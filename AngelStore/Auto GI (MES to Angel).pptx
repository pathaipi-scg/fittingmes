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2" r:id="rId5"/>
  </p:sldMasterIdLst>
  <p:sldIdLst>
    <p:sldId id="5167" r:id="rId6"/>
    <p:sldId id="5168" r:id="rId7"/>
    <p:sldId id="987" r:id="rId8"/>
    <p:sldId id="5162" r:id="rId9"/>
    <p:sldId id="1018" r:id="rId10"/>
    <p:sldId id="1019" r:id="rId11"/>
    <p:sldId id="5160" r:id="rId12"/>
    <p:sldId id="838842808" r:id="rId13"/>
    <p:sldId id="83884280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7CE34-A5C1-4C7B-A0AE-43151BB523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26F64-DB29-4FBA-BA66-A0FE7742CF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5FEEA6-096D-44D9-90A1-F002F37F4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AA827-6E3B-4EF4-B896-FBA59C12EE60}" type="datetimeFigureOut">
              <a:rPr lang="th-TH" smtClean="0"/>
              <a:t>07/08/69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ACFED7-04C0-4713-A262-BD625E88E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5A161-6A19-4730-BFF9-005C81F74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9A4E4-7EC1-4D65-BEE0-7FE01C1DA26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52361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1AF5A-3FB5-4692-97A8-08B55B642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6D351-31C3-4314-8DDC-14F8A7FA87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58DB37-0E11-418D-9DFA-08D08AD02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AA827-6E3B-4EF4-B896-FBA59C12EE60}" type="datetimeFigureOut">
              <a:rPr lang="th-TH" smtClean="0"/>
              <a:t>07/08/69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242A5-B6B4-4307-922B-D6FF492F5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BE2E6-67A2-469D-8E8F-131DA9F35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9A4E4-7EC1-4D65-BEE0-7FE01C1DA26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33482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B6BF4-3F43-49A2-9571-B59984723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2A384A-70CA-4B27-A5D8-B704320655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34ECA-B28F-4767-833C-8A65C2821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AA827-6E3B-4EF4-B896-FBA59C12EE60}" type="datetimeFigureOut">
              <a:rPr lang="th-TH" smtClean="0"/>
              <a:t>07/08/69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CB1F8-8D11-4578-AACD-60D1C2047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C8E1A-E5B5-4975-AE76-B81922FF5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9A4E4-7EC1-4D65-BEE0-7FE01C1DA26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766421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EA9C8-A527-4885-BBE8-46D6DAE24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431E2-AF19-455B-8CBB-CF5DBE426B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58D2BF-785A-44B8-B702-AA63593580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D2FE1A-7EE8-4F7C-9CD9-4FAF0CC94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AA827-6E3B-4EF4-B896-FBA59C12EE60}" type="datetimeFigureOut">
              <a:rPr lang="th-TH" smtClean="0"/>
              <a:t>07/08/69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BE3AC-EB3D-4BA5-A226-3BE5A35FB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CFEE7D-9A2A-4733-9A48-079DDE587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9A4E4-7EC1-4D65-BEE0-7FE01C1DA26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203292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6ACAA-2E44-47FA-8F51-4F5979B4B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50DD49-1A16-4521-A763-B03088B6E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4485E9-4213-4DA5-8FF6-CD75DB01DE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D727B9-220A-48A9-8091-DD5D94B88F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AECADD-E6ED-4B57-97E4-B4A07ED3A4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FDDB3B-DC1B-48CA-907C-1DBF780AF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AA827-6E3B-4EF4-B896-FBA59C12EE60}" type="datetimeFigureOut">
              <a:rPr lang="th-TH" smtClean="0"/>
              <a:t>07/08/69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42AE83-EDC5-4EE7-A104-3F43FBBFC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CB0378-5D34-453B-9912-B1144505C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9A4E4-7EC1-4D65-BEE0-7FE01C1DA26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69586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77156-E231-4876-8874-D229D264D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1FAC65-C107-48B4-A16C-6A570C4A1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AA827-6E3B-4EF4-B896-FBA59C12EE60}" type="datetimeFigureOut">
              <a:rPr lang="th-TH" smtClean="0"/>
              <a:t>07/08/69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6D7E67-6EA2-4B1E-AE93-F2CBEF769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117B1-FE61-4779-B9A3-30FDB24F7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9A4E4-7EC1-4D65-BEE0-7FE01C1DA26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35818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36E607-E96E-4549-9E05-A514C19D8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AA827-6E3B-4EF4-B896-FBA59C12EE60}" type="datetimeFigureOut">
              <a:rPr lang="th-TH" smtClean="0"/>
              <a:t>07/08/69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45D31C-B294-4004-9780-920225659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017029-080E-46DF-8DAF-D39377ABC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9A4E4-7EC1-4D65-BEE0-7FE01C1DA26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654732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609AD-CFFB-4242-9221-B2731D576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5E03F-B67E-404A-A7B8-6079AD92E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F8B64B-C7A1-4154-AE3C-2C9B4D42B6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DAA7BC-A023-4C33-BA3B-AAC69C8A5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AA827-6E3B-4EF4-B896-FBA59C12EE60}" type="datetimeFigureOut">
              <a:rPr lang="th-TH" smtClean="0"/>
              <a:t>07/08/69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62A3F7-0E59-4623-805E-B8B7D9AE4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E83A42-55A3-4F66-A1C8-5524A6E78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9A4E4-7EC1-4D65-BEE0-7FE01C1DA26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35421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78DDD-52B8-4E1F-AED4-A01C5DA1D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9CC747-567B-4219-837A-7CCAF84B20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AEDAB5-8D24-4C16-8F59-9D270E4E5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49905B-68BE-41EE-8773-FB3A51DA1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AA827-6E3B-4EF4-B896-FBA59C12EE60}" type="datetimeFigureOut">
              <a:rPr lang="th-TH" smtClean="0"/>
              <a:t>07/08/69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5BA8F9-9764-41AB-8C81-7796C2617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3CD4CF-F578-4C88-A14B-4A2485748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9A4E4-7EC1-4D65-BEE0-7FE01C1DA26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08465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7B8B7-76B0-4928-9EA6-EB84ECA0F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6BF7FC-6132-40AB-99D2-B3F4A48F32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41F35-ED47-4650-9330-9DA99EB94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AA827-6E3B-4EF4-B896-FBA59C12EE60}" type="datetimeFigureOut">
              <a:rPr lang="th-TH" smtClean="0"/>
              <a:t>07/08/69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60C898-F220-4F51-ACAF-0C054043F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F1B35-F5CE-4001-90DF-A0B2C9851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9A4E4-7EC1-4D65-BEE0-7FE01C1DA26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59075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91455-6C16-4A39-B79A-119FD866BC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019D54-F9F0-4C20-ACBC-914EC601C1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DAC06-2172-4A3B-8370-2405CFB58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AA827-6E3B-4EF4-B896-FBA59C12EE60}" type="datetimeFigureOut">
              <a:rPr lang="th-TH" smtClean="0"/>
              <a:t>07/08/69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1F79E-380E-4A19-B8D5-8876237DC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2F732-B8D7-4369-875A-14FE043BA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9A4E4-7EC1-4D65-BEE0-7FE01C1DA26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525788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1673B-3199-4B74-A6DC-6B70D2FD50ED}" type="datetimeFigureOut">
              <a:rPr lang="th-TH" smtClean="0"/>
              <a:t>07/08/69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39BA2-D47A-4231-8D5A-9CDED5D6F47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170407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1673B-3199-4B74-A6DC-6B70D2FD50ED}" type="datetimeFigureOut">
              <a:rPr lang="th-TH" smtClean="0"/>
              <a:t>07/08/69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39BA2-D47A-4231-8D5A-9CDED5D6F47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850520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1673B-3199-4B74-A6DC-6B70D2FD50ED}" type="datetimeFigureOut">
              <a:rPr lang="th-TH" smtClean="0"/>
              <a:t>07/08/69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39BA2-D47A-4231-8D5A-9CDED5D6F47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789791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1673B-3199-4B74-A6DC-6B70D2FD50ED}" type="datetimeFigureOut">
              <a:rPr lang="th-TH" smtClean="0"/>
              <a:t>07/08/69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39BA2-D47A-4231-8D5A-9CDED5D6F47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341904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1673B-3199-4B74-A6DC-6B70D2FD50ED}" type="datetimeFigureOut">
              <a:rPr lang="th-TH" smtClean="0"/>
              <a:t>07/08/69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39BA2-D47A-4231-8D5A-9CDED5D6F47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977804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1673B-3199-4B74-A6DC-6B70D2FD50ED}" type="datetimeFigureOut">
              <a:rPr lang="th-TH" smtClean="0"/>
              <a:t>07/08/69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39BA2-D47A-4231-8D5A-9CDED5D6F47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018413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1673B-3199-4B74-A6DC-6B70D2FD50ED}" type="datetimeFigureOut">
              <a:rPr lang="th-TH" smtClean="0"/>
              <a:t>07/08/69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39BA2-D47A-4231-8D5A-9CDED5D6F47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095289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1673B-3199-4B74-A6DC-6B70D2FD50ED}" type="datetimeFigureOut">
              <a:rPr lang="th-TH" smtClean="0"/>
              <a:t>07/08/69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39BA2-D47A-4231-8D5A-9CDED5D6F47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80839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1673B-3199-4B74-A6DC-6B70D2FD50ED}" type="datetimeFigureOut">
              <a:rPr lang="th-TH" smtClean="0"/>
              <a:t>07/08/69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39BA2-D47A-4231-8D5A-9CDED5D6F47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27702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1673B-3199-4B74-A6DC-6B70D2FD50ED}" type="datetimeFigureOut">
              <a:rPr lang="th-TH" smtClean="0"/>
              <a:t>07/08/69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39BA2-D47A-4231-8D5A-9CDED5D6F47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7909590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1673B-3199-4B74-A6DC-6B70D2FD50ED}" type="datetimeFigureOut">
              <a:rPr lang="th-TH" smtClean="0"/>
              <a:t>07/08/69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39BA2-D47A-4231-8D5A-9CDED5D6F47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174341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8673C8-AAC2-4A79-A20A-CD2F31E3A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20A4C7-D7F9-40BA-BD28-93EB63AD7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4AE92-AFAF-4D45-957A-0274B67B18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FAA827-6E3B-4EF4-B896-FBA59C12EE60}" type="datetimeFigureOut">
              <a:rPr lang="th-TH" smtClean="0"/>
              <a:t>07/08/69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5FBADE-9BDA-40D2-AF74-9B1E8574C6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D8C1C-5ABC-4FD8-9DC2-F2DDD788EA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59A4E4-7EC1-4D65-BEE0-7FE01C1DA26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54806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E1673B-3199-4B74-A6DC-6B70D2FD50ED}" type="datetimeFigureOut">
              <a:rPr lang="th-TH" smtClean="0"/>
              <a:t>07/08/69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E39BA2-D47A-4231-8D5A-9CDED5D6F47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83702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80B8727-B302-4605-9BC6-9A3D60C896CC}"/>
              </a:ext>
            </a:extLst>
          </p:cNvPr>
          <p:cNvSpPr/>
          <p:nvPr/>
        </p:nvSpPr>
        <p:spPr>
          <a:xfrm>
            <a:off x="0" y="2795449"/>
            <a:ext cx="12192000" cy="1190897"/>
          </a:xfrm>
          <a:prstGeom prst="rect">
            <a:avLst/>
          </a:prstGeom>
          <a:solidFill>
            <a:schemeClr val="tx1"/>
          </a:solidFill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Reduce Workload Production : Auto Pick List Raw Materials to Angel Store (Auto GI)</a:t>
            </a:r>
            <a:endParaRPr kumimoji="0" lang="th-TH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Cordia New" panose="020B03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607881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5D04C76-F07E-476F-9256-5E6A59DFFDBD}"/>
              </a:ext>
            </a:extLst>
          </p:cNvPr>
          <p:cNvSpPr/>
          <p:nvPr/>
        </p:nvSpPr>
        <p:spPr>
          <a:xfrm>
            <a:off x="0" y="-1"/>
            <a:ext cx="12192000" cy="572519"/>
          </a:xfrm>
          <a:prstGeom prst="rect">
            <a:avLst/>
          </a:prstGeom>
          <a:solidFill>
            <a:schemeClr val="tx1"/>
          </a:solidFill>
        </p:spPr>
        <p:txBody>
          <a:bodyPr wrap="square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Reduce Workload Production : Auto Pick List Raw Materials to Angel Store (Auto GI)</a:t>
            </a:r>
            <a:endParaRPr kumimoji="0" lang="th-TH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Cordia New" panose="020B0304020202020204" pitchFamily="34" charset="-34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1580086-0B14-49BE-BD7D-38F4004178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089" t="33751" r="41232" b="37705"/>
          <a:stretch/>
        </p:blipFill>
        <p:spPr>
          <a:xfrm>
            <a:off x="3717693" y="3684398"/>
            <a:ext cx="1024505" cy="985741"/>
          </a:xfrm>
          <a:prstGeom prst="rect">
            <a:avLst/>
          </a:prstGeom>
        </p:spPr>
      </p:pic>
      <p:pic>
        <p:nvPicPr>
          <p:cNvPr id="4098" name="Picture 2" descr="https://scgcbm-angel.scg.com/sfcg/images/angel-logo.png">
            <a:extLst>
              <a:ext uri="{FF2B5EF4-FFF2-40B4-BE49-F238E27FC236}">
                <a16:creationId xmlns:a16="http://schemas.microsoft.com/office/drawing/2014/main" id="{DEE9FB44-C764-42A2-96DE-0EEEDA5CBB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6671" y="3887048"/>
            <a:ext cx="1754884" cy="572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F8D8EA4-A744-4781-AD49-F088DBB53009}"/>
              </a:ext>
            </a:extLst>
          </p:cNvPr>
          <p:cNvCxnSpPr>
            <a:cxnSpLocks/>
            <a:stCxn id="8" idx="3"/>
            <a:endCxn id="4098" idx="1"/>
          </p:cNvCxnSpPr>
          <p:nvPr/>
        </p:nvCxnSpPr>
        <p:spPr>
          <a:xfrm flipV="1">
            <a:off x="4742198" y="4173065"/>
            <a:ext cx="1584473" cy="42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4022317-2247-46C3-AEE7-A597CB95BA66}"/>
              </a:ext>
            </a:extLst>
          </p:cNvPr>
          <p:cNvCxnSpPr>
            <a:cxnSpLocks/>
            <a:stCxn id="39" idx="3"/>
            <a:endCxn id="19" idx="3"/>
          </p:cNvCxnSpPr>
          <p:nvPr/>
        </p:nvCxnSpPr>
        <p:spPr>
          <a:xfrm flipV="1">
            <a:off x="1676694" y="1637378"/>
            <a:ext cx="2167235" cy="55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2" descr="https://scgcbm-angel.scg.com/sfcg/images/angel-logo.png">
            <a:extLst>
              <a:ext uri="{FF2B5EF4-FFF2-40B4-BE49-F238E27FC236}">
                <a16:creationId xmlns:a16="http://schemas.microsoft.com/office/drawing/2014/main" id="{823E335A-EF78-4E76-BBB1-757914B2B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6671" y="1354185"/>
            <a:ext cx="1754884" cy="572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70BC17C-F686-47D1-B4CD-D7769B347DAE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3843929" y="1293738"/>
            <a:ext cx="772032" cy="687280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5ECA7F4-6809-4BD7-8B2B-255451E8557D}"/>
              </a:ext>
            </a:extLst>
          </p:cNvPr>
          <p:cNvCxnSpPr>
            <a:cxnSpLocks/>
            <a:stCxn id="40" idx="3"/>
            <a:endCxn id="8" idx="1"/>
          </p:cNvCxnSpPr>
          <p:nvPr/>
        </p:nvCxnSpPr>
        <p:spPr>
          <a:xfrm>
            <a:off x="1651010" y="4166202"/>
            <a:ext cx="2066683" cy="1106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7956B5A-405F-4FC0-8E78-1600D4DE0647}"/>
              </a:ext>
            </a:extLst>
          </p:cNvPr>
          <p:cNvCxnSpPr>
            <a:cxnSpLocks/>
            <a:stCxn id="19" idx="1"/>
            <a:endCxn id="18" idx="1"/>
          </p:cNvCxnSpPr>
          <p:nvPr/>
        </p:nvCxnSpPr>
        <p:spPr>
          <a:xfrm>
            <a:off x="4615961" y="1637378"/>
            <a:ext cx="1710710" cy="28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9752F05-2EBA-413A-9C36-069F8123CDBD}"/>
              </a:ext>
            </a:extLst>
          </p:cNvPr>
          <p:cNvSpPr txBox="1"/>
          <p:nvPr/>
        </p:nvSpPr>
        <p:spPr>
          <a:xfrm>
            <a:off x="3891867" y="4659021"/>
            <a:ext cx="10245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MES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5EC2F92-0E24-4DAA-B059-321C645054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0949" y="1252530"/>
            <a:ext cx="772032" cy="77203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A8A30C7-6072-4480-862D-FC655E8360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0949" y="3787049"/>
            <a:ext cx="772032" cy="772032"/>
          </a:xfrm>
          <a:prstGeom prst="rect">
            <a:avLst/>
          </a:prstGeom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178C235-6A0C-4B01-B11B-625C7C83F09F}"/>
              </a:ext>
            </a:extLst>
          </p:cNvPr>
          <p:cNvCxnSpPr>
            <a:cxnSpLocks/>
            <a:stCxn id="4098" idx="3"/>
            <a:endCxn id="32" idx="1"/>
          </p:cNvCxnSpPr>
          <p:nvPr/>
        </p:nvCxnSpPr>
        <p:spPr>
          <a:xfrm>
            <a:off x="8081555" y="4173065"/>
            <a:ext cx="222939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741D48A-D7A4-4C9A-B5D6-329AA9E6E1E2}"/>
              </a:ext>
            </a:extLst>
          </p:cNvPr>
          <p:cNvCxnSpPr>
            <a:cxnSpLocks/>
            <a:stCxn id="18" idx="3"/>
            <a:endCxn id="29" idx="1"/>
          </p:cNvCxnSpPr>
          <p:nvPr/>
        </p:nvCxnSpPr>
        <p:spPr>
          <a:xfrm flipV="1">
            <a:off x="8081555" y="1638546"/>
            <a:ext cx="2229394" cy="16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Picture 38">
            <a:extLst>
              <a:ext uri="{FF2B5EF4-FFF2-40B4-BE49-F238E27FC236}">
                <a16:creationId xmlns:a16="http://schemas.microsoft.com/office/drawing/2014/main" id="{0343D733-E103-40F8-9E6B-0C367D77A225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7331" y="1283247"/>
            <a:ext cx="719363" cy="719363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1AB644E6-1C5B-4C53-A4F2-45462E410B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738" y="3616566"/>
            <a:ext cx="1099272" cy="1099272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FEA22565-ADA3-4D7F-8537-D02C15FC137D}"/>
              </a:ext>
            </a:extLst>
          </p:cNvPr>
          <p:cNvSpPr txBox="1"/>
          <p:nvPr/>
        </p:nvSpPr>
        <p:spPr>
          <a:xfrm>
            <a:off x="510741" y="4641603"/>
            <a:ext cx="19189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Machine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ED4C43C-7A1A-4CB3-9E00-56BB1DAD8026}"/>
              </a:ext>
            </a:extLst>
          </p:cNvPr>
          <p:cNvSpPr txBox="1"/>
          <p:nvPr/>
        </p:nvSpPr>
        <p:spPr>
          <a:xfrm>
            <a:off x="10203381" y="4553967"/>
            <a:ext cx="19189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Approve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7D73005-5290-4EDD-BD97-3FD8C512E3E6}"/>
              </a:ext>
            </a:extLst>
          </p:cNvPr>
          <p:cNvSpPr txBox="1"/>
          <p:nvPr/>
        </p:nvSpPr>
        <p:spPr>
          <a:xfrm>
            <a:off x="10203381" y="1989727"/>
            <a:ext cx="19189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Approve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869982E-29AE-4A80-9904-040B8CEDA63B}"/>
              </a:ext>
            </a:extLst>
          </p:cNvPr>
          <p:cNvSpPr txBox="1"/>
          <p:nvPr/>
        </p:nvSpPr>
        <p:spPr>
          <a:xfrm>
            <a:off x="813458" y="1997060"/>
            <a:ext cx="19189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Paper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AA1344D-5DB2-4B76-B8FF-6A8D366DD6B2}"/>
              </a:ext>
            </a:extLst>
          </p:cNvPr>
          <p:cNvSpPr txBox="1"/>
          <p:nvPr/>
        </p:nvSpPr>
        <p:spPr>
          <a:xfrm>
            <a:off x="3756840" y="1991166"/>
            <a:ext cx="19189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Key in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4F100D7-FEC4-470D-A581-E7452EB7711A}"/>
              </a:ext>
            </a:extLst>
          </p:cNvPr>
          <p:cNvSpPr txBox="1"/>
          <p:nvPr/>
        </p:nvSpPr>
        <p:spPr>
          <a:xfrm>
            <a:off x="76869" y="777664"/>
            <a:ext cx="10245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As is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2B0963A-DE42-4F26-AF7D-3BB09CA3952C}"/>
              </a:ext>
            </a:extLst>
          </p:cNvPr>
          <p:cNvSpPr txBox="1"/>
          <p:nvPr/>
        </p:nvSpPr>
        <p:spPr>
          <a:xfrm>
            <a:off x="89138" y="3161695"/>
            <a:ext cx="10245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To be</a:t>
            </a:r>
          </a:p>
        </p:txBody>
      </p:sp>
    </p:spTree>
    <p:extLst>
      <p:ext uri="{BB962C8B-B14F-4D97-AF65-F5344CB8AC3E}">
        <p14:creationId xmlns:p14="http://schemas.microsoft.com/office/powerpoint/2010/main" val="3302542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0930" y="746020"/>
            <a:ext cx="9958098" cy="5991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1315" y="673714"/>
            <a:ext cx="2382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eelawadee" panose="020B0502040204020203" pitchFamily="34" charset="-34"/>
                <a:ea typeface="+mn-ea"/>
                <a:cs typeface="Leelawadee" panose="020B0502040204020203" pitchFamily="34" charset="-34"/>
              </a:rPr>
              <a:t>สรุป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eelawadee" panose="020B0502040204020203" pitchFamily="34" charset="-34"/>
                <a:ea typeface="+mn-ea"/>
                <a:cs typeface="Leelawadee" panose="020B0502040204020203" pitchFamily="34" charset="-34"/>
              </a:rPr>
              <a:t>Flow </a:t>
            </a:r>
            <a:r>
              <a:rPr kumimoji="0" lang="th-TH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eelawadee" panose="020B0502040204020203" pitchFamily="34" charset="-34"/>
                <a:ea typeface="+mn-ea"/>
                <a:cs typeface="Leelawadee" panose="020B0502040204020203" pitchFamily="34" charset="-34"/>
              </a:rPr>
              <a:t>การเบิกของ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F96F6D-B537-4DD0-95B6-86866B124E46}"/>
              </a:ext>
            </a:extLst>
          </p:cNvPr>
          <p:cNvSpPr txBox="1"/>
          <p:nvPr/>
        </p:nvSpPr>
        <p:spPr>
          <a:xfrm>
            <a:off x="7215574" y="3825778"/>
            <a:ext cx="4304014" cy="73866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Details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Price for calculate : Avg / Fix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Back date function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Use update date or create for check update (every 10 mins)</a:t>
            </a:r>
            <a:endParaRPr kumimoji="0" lang="th-TH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G" panose="02000503000000020004" pitchFamily="50" charset="-34"/>
              <a:ea typeface="+mn-ea"/>
              <a:cs typeface="SCG" panose="02000503000000020004" pitchFamily="50" charset="-34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D04C76-F07E-476F-9256-5E6A59DFFDBD}"/>
              </a:ext>
            </a:extLst>
          </p:cNvPr>
          <p:cNvSpPr/>
          <p:nvPr/>
        </p:nvSpPr>
        <p:spPr>
          <a:xfrm>
            <a:off x="0" y="-1"/>
            <a:ext cx="12192000" cy="572519"/>
          </a:xfrm>
          <a:prstGeom prst="rect">
            <a:avLst/>
          </a:prstGeom>
          <a:solidFill>
            <a:schemeClr val="tx1"/>
          </a:solidFill>
        </p:spPr>
        <p:txBody>
          <a:bodyPr wrap="square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Reduce Workload Production : Auto Pick List Raw Materials to Angel Store (Auto GI)</a:t>
            </a:r>
            <a:endParaRPr kumimoji="0" lang="th-TH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Cordia New" panose="020B03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25115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512" y="0"/>
            <a:ext cx="9086991" cy="66108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5966D1-C0A7-4872-A032-114F6AEC36F8}"/>
              </a:ext>
            </a:extLst>
          </p:cNvPr>
          <p:cNvSpPr txBox="1"/>
          <p:nvPr/>
        </p:nvSpPr>
        <p:spPr>
          <a:xfrm>
            <a:off x="6466205" y="5605068"/>
            <a:ext cx="3927754" cy="57708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MES to Angel Process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MES 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  <a:sym typeface="Wingdings" panose="05000000000000000000" pitchFamily="2" charset="2"/>
              </a:rPr>
              <a:t> 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Create Pick List 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  <a:sym typeface="Wingdings" panose="05000000000000000000" pitchFamily="2" charset="2"/>
              </a:rPr>
              <a:t> Approve  GI Process  SAP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MES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  <a:sym typeface="Wingdings" panose="05000000000000000000" pitchFamily="2" charset="2"/>
              </a:rPr>
              <a:t> Create Task  SAP</a:t>
            </a:r>
          </a:p>
        </p:txBody>
      </p:sp>
    </p:spTree>
    <p:extLst>
      <p:ext uri="{BB962C8B-B14F-4D97-AF65-F5344CB8AC3E}">
        <p14:creationId xmlns:p14="http://schemas.microsoft.com/office/powerpoint/2010/main" val="4100223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917AF3A-FFF9-4F09-B50B-B303A564ACD4}"/>
              </a:ext>
            </a:extLst>
          </p:cNvPr>
          <p:cNvSpPr/>
          <p:nvPr/>
        </p:nvSpPr>
        <p:spPr>
          <a:xfrm rot="10800000">
            <a:off x="-6223" y="1872841"/>
            <a:ext cx="251670" cy="142613"/>
          </a:xfrm>
          <a:prstGeom prst="triangle">
            <a:avLst/>
          </a:prstGeom>
          <a:solidFill>
            <a:srgbClr val="FBFAD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49E68ABD-59A6-4BC7-993C-D22FAFC7C756}"/>
              </a:ext>
            </a:extLst>
          </p:cNvPr>
          <p:cNvSpPr/>
          <p:nvPr/>
        </p:nvSpPr>
        <p:spPr>
          <a:xfrm rot="10800000">
            <a:off x="299841" y="1872841"/>
            <a:ext cx="251670" cy="142613"/>
          </a:xfrm>
          <a:prstGeom prst="triangle">
            <a:avLst/>
          </a:prstGeom>
          <a:solidFill>
            <a:srgbClr val="FBFAD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A3D2E323-EF1B-4068-B5D6-A585A1CB4DE1}"/>
              </a:ext>
            </a:extLst>
          </p:cNvPr>
          <p:cNvSpPr/>
          <p:nvPr/>
        </p:nvSpPr>
        <p:spPr>
          <a:xfrm rot="10800000">
            <a:off x="635400" y="1872841"/>
            <a:ext cx="251670" cy="142613"/>
          </a:xfrm>
          <a:prstGeom prst="triangle">
            <a:avLst/>
          </a:prstGeom>
          <a:solidFill>
            <a:srgbClr val="FBFAD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3C8717A3-8CFF-42E6-8BDE-1833404973F7}"/>
              </a:ext>
            </a:extLst>
          </p:cNvPr>
          <p:cNvSpPr/>
          <p:nvPr/>
        </p:nvSpPr>
        <p:spPr>
          <a:xfrm rot="10800000">
            <a:off x="934088" y="1872841"/>
            <a:ext cx="251670" cy="142613"/>
          </a:xfrm>
          <a:prstGeom prst="triangle">
            <a:avLst/>
          </a:prstGeom>
          <a:solidFill>
            <a:srgbClr val="FBFAD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F77012-A2CF-4DB6-AA08-05090A905F67}"/>
              </a:ext>
            </a:extLst>
          </p:cNvPr>
          <p:cNvSpPr txBox="1"/>
          <p:nvPr/>
        </p:nvSpPr>
        <p:spPr>
          <a:xfrm rot="18535366">
            <a:off x="-130025" y="1493389"/>
            <a:ext cx="683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S1:Sand</a:t>
            </a:r>
            <a:endParaRPr kumimoji="0" lang="th-TH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G" panose="02000503000000020004" pitchFamily="50" charset="-34"/>
              <a:ea typeface="+mn-ea"/>
              <a:cs typeface="SCG" panose="02000503000000020004" pitchFamily="50" charset="-3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D530A6-40A0-4693-90E3-3FF146166B31}"/>
              </a:ext>
            </a:extLst>
          </p:cNvPr>
          <p:cNvSpPr txBox="1"/>
          <p:nvPr/>
        </p:nvSpPr>
        <p:spPr>
          <a:xfrm rot="18535366">
            <a:off x="939316" y="1525940"/>
            <a:ext cx="596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S4:Sand</a:t>
            </a:r>
            <a:endParaRPr kumimoji="0" lang="th-TH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G" panose="02000503000000020004" pitchFamily="50" charset="-34"/>
              <a:ea typeface="+mn-ea"/>
              <a:cs typeface="SCG" panose="02000503000000020004" pitchFamily="50" charset="-34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A7E180-B9AA-43E3-927F-DC2C38C47220}"/>
              </a:ext>
            </a:extLst>
          </p:cNvPr>
          <p:cNvSpPr txBox="1"/>
          <p:nvPr/>
        </p:nvSpPr>
        <p:spPr>
          <a:xfrm rot="18535366">
            <a:off x="563414" y="1369837"/>
            <a:ext cx="8951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S3:Dust Stone</a:t>
            </a:r>
            <a:endParaRPr kumimoji="0" lang="th-TH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G" panose="02000503000000020004" pitchFamily="50" charset="-34"/>
              <a:ea typeface="+mn-ea"/>
              <a:cs typeface="SCG" panose="02000503000000020004" pitchFamily="50" charset="-3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A5282E-5777-4439-9857-07D63179EE43}"/>
              </a:ext>
            </a:extLst>
          </p:cNvPr>
          <p:cNvSpPr txBox="1"/>
          <p:nvPr/>
        </p:nvSpPr>
        <p:spPr>
          <a:xfrm rot="18535366">
            <a:off x="79033" y="1122269"/>
            <a:ext cx="14667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S2:Sand + Regrind Concrete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**Fix ratio 50% x 50%</a:t>
            </a:r>
            <a:endParaRPr kumimoji="0" lang="th-TH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G" panose="02000503000000020004" pitchFamily="50" charset="-34"/>
              <a:ea typeface="+mn-ea"/>
              <a:cs typeface="SCG" panose="02000503000000020004" pitchFamily="50" charset="-34"/>
            </a:endParaRPr>
          </a:p>
        </p:txBody>
      </p:sp>
      <p:sp>
        <p:nvSpPr>
          <p:cNvPr id="12" name="Flowchart: Magnetic Disk 11">
            <a:extLst>
              <a:ext uri="{FF2B5EF4-FFF2-40B4-BE49-F238E27FC236}">
                <a16:creationId xmlns:a16="http://schemas.microsoft.com/office/drawing/2014/main" id="{FD523B2E-21D0-4640-A5C3-883AB3B44A7F}"/>
              </a:ext>
            </a:extLst>
          </p:cNvPr>
          <p:cNvSpPr/>
          <p:nvPr/>
        </p:nvSpPr>
        <p:spPr>
          <a:xfrm>
            <a:off x="880843" y="2577517"/>
            <a:ext cx="351542" cy="276837"/>
          </a:xfrm>
          <a:prstGeom prst="flowChartMagneticDisk">
            <a:avLst/>
          </a:prstGeom>
          <a:solidFill>
            <a:srgbClr val="FBFAD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Cordia New" panose="020B0304020202020204" pitchFamily="34" charset="-34"/>
            </a:endParaRP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5D162675-B16D-4D04-B1EC-763E26D2C9E9}"/>
              </a:ext>
            </a:extLst>
          </p:cNvPr>
          <p:cNvCxnSpPr>
            <a:stCxn id="4" idx="0"/>
            <a:endCxn id="12" idx="1"/>
          </p:cNvCxnSpPr>
          <p:nvPr/>
        </p:nvCxnSpPr>
        <p:spPr>
          <a:xfrm rot="16200000" flipH="1">
            <a:off x="307082" y="1827984"/>
            <a:ext cx="562063" cy="937002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83CDC714-EC1D-44C1-AF0A-EC8E6B3685EB}"/>
              </a:ext>
            </a:extLst>
          </p:cNvPr>
          <p:cNvCxnSpPr>
            <a:cxnSpLocks/>
            <a:stCxn id="5" idx="0"/>
            <a:endCxn id="12" idx="1"/>
          </p:cNvCxnSpPr>
          <p:nvPr/>
        </p:nvCxnSpPr>
        <p:spPr>
          <a:xfrm rot="16200000" flipH="1">
            <a:off x="460114" y="1981016"/>
            <a:ext cx="562063" cy="630938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1830E17A-3EE7-43BE-A21C-5D48FBFE2E3C}"/>
              </a:ext>
            </a:extLst>
          </p:cNvPr>
          <p:cNvCxnSpPr>
            <a:cxnSpLocks/>
            <a:stCxn id="6" idx="0"/>
            <a:endCxn id="12" idx="1"/>
          </p:cNvCxnSpPr>
          <p:nvPr/>
        </p:nvCxnSpPr>
        <p:spPr>
          <a:xfrm rot="16200000" flipH="1">
            <a:off x="627893" y="2148795"/>
            <a:ext cx="562063" cy="295379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ADB43B11-8F18-420A-90FE-1904AFE2C8EA}"/>
              </a:ext>
            </a:extLst>
          </p:cNvPr>
          <p:cNvCxnSpPr>
            <a:cxnSpLocks/>
            <a:stCxn id="7" idx="0"/>
            <a:endCxn id="12" idx="1"/>
          </p:cNvCxnSpPr>
          <p:nvPr/>
        </p:nvCxnSpPr>
        <p:spPr>
          <a:xfrm rot="5400000">
            <a:off x="777238" y="2294831"/>
            <a:ext cx="562063" cy="3309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lowchart: Off-page Connector 23">
            <a:extLst>
              <a:ext uri="{FF2B5EF4-FFF2-40B4-BE49-F238E27FC236}">
                <a16:creationId xmlns:a16="http://schemas.microsoft.com/office/drawing/2014/main" id="{83F66E79-FAFC-4CBB-81F4-3873D36A1730}"/>
              </a:ext>
            </a:extLst>
          </p:cNvPr>
          <p:cNvSpPr/>
          <p:nvPr/>
        </p:nvSpPr>
        <p:spPr>
          <a:xfrm>
            <a:off x="922786" y="3380763"/>
            <a:ext cx="274014" cy="385893"/>
          </a:xfrm>
          <a:prstGeom prst="flowChartOffpageConnector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Cordia New" panose="020B0304020202020204" pitchFamily="34" charset="-34"/>
            </a:endParaRP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3512EEE1-7CC0-4A2F-A09B-81C61D1BD830}"/>
              </a:ext>
            </a:extLst>
          </p:cNvPr>
          <p:cNvCxnSpPr>
            <a:cxnSpLocks/>
            <a:stCxn id="12" idx="3"/>
            <a:endCxn id="24" idx="0"/>
          </p:cNvCxnSpPr>
          <p:nvPr/>
        </p:nvCxnSpPr>
        <p:spPr>
          <a:xfrm rot="16200000" flipH="1">
            <a:off x="794999" y="3115968"/>
            <a:ext cx="526409" cy="3179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lowchart: Off-page Connector 28">
            <a:extLst>
              <a:ext uri="{FF2B5EF4-FFF2-40B4-BE49-F238E27FC236}">
                <a16:creationId xmlns:a16="http://schemas.microsoft.com/office/drawing/2014/main" id="{56D61041-A053-41C2-9523-9D78B20AB489}"/>
              </a:ext>
            </a:extLst>
          </p:cNvPr>
          <p:cNvSpPr/>
          <p:nvPr/>
        </p:nvSpPr>
        <p:spPr>
          <a:xfrm>
            <a:off x="413883" y="3380762"/>
            <a:ext cx="274014" cy="385893"/>
          </a:xfrm>
          <a:prstGeom prst="flowChartOffpageConnector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30" name="Flowchart: Off-page Connector 29">
            <a:extLst>
              <a:ext uri="{FF2B5EF4-FFF2-40B4-BE49-F238E27FC236}">
                <a16:creationId xmlns:a16="http://schemas.microsoft.com/office/drawing/2014/main" id="{21D4B692-750A-4CE9-B482-2A8C2D797C3B}"/>
              </a:ext>
            </a:extLst>
          </p:cNvPr>
          <p:cNvSpPr/>
          <p:nvPr/>
        </p:nvSpPr>
        <p:spPr>
          <a:xfrm>
            <a:off x="1442904" y="3378665"/>
            <a:ext cx="274014" cy="385893"/>
          </a:xfrm>
          <a:prstGeom prst="flowChartOffpageConnector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15B932A-ECB6-4541-A72A-A7EE0667536B}"/>
              </a:ext>
            </a:extLst>
          </p:cNvPr>
          <p:cNvSpPr txBox="1"/>
          <p:nvPr/>
        </p:nvSpPr>
        <p:spPr>
          <a:xfrm>
            <a:off x="1114397" y="2425930"/>
            <a:ext cx="773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Sand Mixer</a:t>
            </a:r>
            <a:endParaRPr kumimoji="0" lang="th-TH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G" panose="02000503000000020004" pitchFamily="50" charset="-34"/>
              <a:ea typeface="+mn-ea"/>
              <a:cs typeface="SCG" panose="02000503000000020004" pitchFamily="50" charset="-34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760EDC5-F9E8-42AB-9F2E-4F1901B4D10C}"/>
              </a:ext>
            </a:extLst>
          </p:cNvPr>
          <p:cNvSpPr txBox="1"/>
          <p:nvPr/>
        </p:nvSpPr>
        <p:spPr>
          <a:xfrm rot="18535366">
            <a:off x="1991401" y="2928326"/>
            <a:ext cx="6709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Cement Weighing</a:t>
            </a:r>
            <a:endParaRPr kumimoji="0" lang="th-TH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G" panose="02000503000000020004" pitchFamily="50" charset="-34"/>
              <a:ea typeface="+mn-ea"/>
              <a:cs typeface="SCG" panose="02000503000000020004" pitchFamily="50" charset="-34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7C4970C-ECEA-418F-A8D7-72D34CE2F2BC}"/>
              </a:ext>
            </a:extLst>
          </p:cNvPr>
          <p:cNvSpPr txBox="1"/>
          <p:nvPr/>
        </p:nvSpPr>
        <p:spPr>
          <a:xfrm rot="18535366">
            <a:off x="2513176" y="2811827"/>
            <a:ext cx="8356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Sand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Weighing</a:t>
            </a:r>
            <a:endParaRPr kumimoji="0" lang="th-TH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G" panose="02000503000000020004" pitchFamily="50" charset="-34"/>
              <a:ea typeface="+mn-ea"/>
              <a:cs typeface="SCG" panose="02000503000000020004" pitchFamily="50" charset="-34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AF411B7-8C08-454F-8198-16C8436D5255}"/>
              </a:ext>
            </a:extLst>
          </p:cNvPr>
          <p:cNvSpPr txBox="1"/>
          <p:nvPr/>
        </p:nvSpPr>
        <p:spPr>
          <a:xfrm rot="18535366">
            <a:off x="3065785" y="2811827"/>
            <a:ext cx="8356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Water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Weighing</a:t>
            </a:r>
            <a:endParaRPr kumimoji="0" lang="th-TH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G" panose="02000503000000020004" pitchFamily="50" charset="-34"/>
              <a:ea typeface="+mn-ea"/>
              <a:cs typeface="SCG" panose="02000503000000020004" pitchFamily="50" charset="-34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FF2BA52-7EFC-48F8-9B1A-927F96546F6E}"/>
              </a:ext>
            </a:extLst>
          </p:cNvPr>
          <p:cNvSpPr/>
          <p:nvPr/>
        </p:nvSpPr>
        <p:spPr>
          <a:xfrm>
            <a:off x="933320" y="5308527"/>
            <a:ext cx="251670" cy="23489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41" name="Flowchart: Magnetic Disk 40">
            <a:extLst>
              <a:ext uri="{FF2B5EF4-FFF2-40B4-BE49-F238E27FC236}">
                <a16:creationId xmlns:a16="http://schemas.microsoft.com/office/drawing/2014/main" id="{84C572A6-4577-4699-A73F-40727205DB0C}"/>
              </a:ext>
            </a:extLst>
          </p:cNvPr>
          <p:cNvSpPr/>
          <p:nvPr/>
        </p:nvSpPr>
        <p:spPr>
          <a:xfrm>
            <a:off x="884029" y="4357654"/>
            <a:ext cx="351542" cy="276837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Cordia New" panose="020B0304020202020204" pitchFamily="34" charset="-34"/>
            </a:endParaRP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8C69F6B5-37AA-4063-B679-6538BDBF4E54}"/>
              </a:ext>
            </a:extLst>
          </p:cNvPr>
          <p:cNvCxnSpPr>
            <a:cxnSpLocks/>
            <a:stCxn id="30" idx="2"/>
            <a:endCxn id="41" idx="1"/>
          </p:cNvCxnSpPr>
          <p:nvPr/>
        </p:nvCxnSpPr>
        <p:spPr>
          <a:xfrm rot="5400000">
            <a:off x="1023308" y="3801051"/>
            <a:ext cx="593096" cy="52011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4E9F1E91-BB0A-4D07-AEC0-E176CDD346A8}"/>
              </a:ext>
            </a:extLst>
          </p:cNvPr>
          <p:cNvCxnSpPr>
            <a:cxnSpLocks/>
            <a:stCxn id="24" idx="2"/>
            <a:endCxn id="41" idx="1"/>
          </p:cNvCxnSpPr>
          <p:nvPr/>
        </p:nvCxnSpPr>
        <p:spPr>
          <a:xfrm rot="16200000" flipH="1">
            <a:off x="764297" y="4062151"/>
            <a:ext cx="590998" cy="7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4F991DD3-D60F-4A09-8F20-D07560CE3FA4}"/>
              </a:ext>
            </a:extLst>
          </p:cNvPr>
          <p:cNvCxnSpPr>
            <a:cxnSpLocks/>
            <a:stCxn id="29" idx="2"/>
            <a:endCxn id="41" idx="1"/>
          </p:cNvCxnSpPr>
          <p:nvPr/>
        </p:nvCxnSpPr>
        <p:spPr>
          <a:xfrm rot="16200000" flipH="1">
            <a:off x="509846" y="3807699"/>
            <a:ext cx="590999" cy="50891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A2FBDE8A-A615-4C43-9C7D-D9778BBA2788}"/>
              </a:ext>
            </a:extLst>
          </p:cNvPr>
          <p:cNvSpPr txBox="1"/>
          <p:nvPr/>
        </p:nvSpPr>
        <p:spPr>
          <a:xfrm>
            <a:off x="1181991" y="4199650"/>
            <a:ext cx="773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Mortar Mixer</a:t>
            </a:r>
            <a:endParaRPr kumimoji="0" lang="th-TH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G" panose="02000503000000020004" pitchFamily="50" charset="-34"/>
              <a:ea typeface="+mn-ea"/>
              <a:cs typeface="SCG" panose="02000503000000020004" pitchFamily="50" charset="-34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15F8E71E-9220-4353-9FF2-F5193904F91D}"/>
              </a:ext>
            </a:extLst>
          </p:cNvPr>
          <p:cNvSpPr/>
          <p:nvPr/>
        </p:nvSpPr>
        <p:spPr>
          <a:xfrm>
            <a:off x="2918512" y="5308527"/>
            <a:ext cx="251670" cy="23489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C1DCE994-C6B5-42E0-ABA7-664A51D590E8}"/>
              </a:ext>
            </a:extLst>
          </p:cNvPr>
          <p:cNvSpPr/>
          <p:nvPr/>
        </p:nvSpPr>
        <p:spPr>
          <a:xfrm>
            <a:off x="4899170" y="5298802"/>
            <a:ext cx="251670" cy="23489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A8E54749-3AF4-40C2-B6ED-7E7724D1DF23}"/>
              </a:ext>
            </a:extLst>
          </p:cNvPr>
          <p:cNvSpPr/>
          <p:nvPr/>
        </p:nvSpPr>
        <p:spPr>
          <a:xfrm>
            <a:off x="6879688" y="5264887"/>
            <a:ext cx="251670" cy="23489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56" name="Arrow: Right 55">
            <a:extLst>
              <a:ext uri="{FF2B5EF4-FFF2-40B4-BE49-F238E27FC236}">
                <a16:creationId xmlns:a16="http://schemas.microsoft.com/office/drawing/2014/main" id="{FB6F8B33-D22E-48AD-8602-3B982C15E2F7}"/>
              </a:ext>
            </a:extLst>
          </p:cNvPr>
          <p:cNvSpPr/>
          <p:nvPr/>
        </p:nvSpPr>
        <p:spPr>
          <a:xfrm>
            <a:off x="1347918" y="5316915"/>
            <a:ext cx="1412060" cy="215444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57" name="Arrow: Right 56">
            <a:extLst>
              <a:ext uri="{FF2B5EF4-FFF2-40B4-BE49-F238E27FC236}">
                <a16:creationId xmlns:a16="http://schemas.microsoft.com/office/drawing/2014/main" id="{A0A08EC9-00C9-4D1E-ACEB-10F901D6B72B}"/>
              </a:ext>
            </a:extLst>
          </p:cNvPr>
          <p:cNvSpPr/>
          <p:nvPr/>
        </p:nvSpPr>
        <p:spPr>
          <a:xfrm>
            <a:off x="3328716" y="5308526"/>
            <a:ext cx="1412060" cy="215444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58" name="Arrow: Right 57">
            <a:extLst>
              <a:ext uri="{FF2B5EF4-FFF2-40B4-BE49-F238E27FC236}">
                <a16:creationId xmlns:a16="http://schemas.microsoft.com/office/drawing/2014/main" id="{6FF0DAAE-7DB8-4D2B-BFB7-91A8E3107A78}"/>
              </a:ext>
            </a:extLst>
          </p:cNvPr>
          <p:cNvSpPr/>
          <p:nvPr/>
        </p:nvSpPr>
        <p:spPr>
          <a:xfrm>
            <a:off x="5309234" y="5287374"/>
            <a:ext cx="1412060" cy="215444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Cordia New" panose="020B0304020202020204" pitchFamily="34" charset="-34"/>
            </a:endParaRPr>
          </a:p>
        </p:txBody>
      </p: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5E765228-3633-43C8-BD14-4CDA3336A304}"/>
              </a:ext>
            </a:extLst>
          </p:cNvPr>
          <p:cNvCxnSpPr>
            <a:cxnSpLocks/>
            <a:stCxn id="41" idx="3"/>
            <a:endCxn id="35" idx="0"/>
          </p:cNvCxnSpPr>
          <p:nvPr/>
        </p:nvCxnSpPr>
        <p:spPr>
          <a:xfrm rot="5400000">
            <a:off x="722460" y="4971187"/>
            <a:ext cx="674036" cy="645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CDB6F575-C1B4-49D6-A1D2-F33F3B4319DB}"/>
              </a:ext>
            </a:extLst>
          </p:cNvPr>
          <p:cNvSpPr txBox="1"/>
          <p:nvPr/>
        </p:nvSpPr>
        <p:spPr>
          <a:xfrm>
            <a:off x="139174" y="5301544"/>
            <a:ext cx="8356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Tile Forming</a:t>
            </a:r>
            <a:endParaRPr kumimoji="0" lang="th-TH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G" panose="02000503000000020004" pitchFamily="50" charset="-34"/>
              <a:ea typeface="+mn-ea"/>
              <a:cs typeface="SCG" panose="02000503000000020004" pitchFamily="50" charset="-34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16F485C-D5FB-4C32-858C-135313518205}"/>
              </a:ext>
            </a:extLst>
          </p:cNvPr>
          <p:cNvSpPr txBox="1"/>
          <p:nvPr/>
        </p:nvSpPr>
        <p:spPr>
          <a:xfrm>
            <a:off x="2626514" y="5598162"/>
            <a:ext cx="8356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Slurry Coating</a:t>
            </a:r>
            <a:endParaRPr kumimoji="0" lang="th-TH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G" panose="02000503000000020004" pitchFamily="50" charset="-34"/>
              <a:ea typeface="+mn-ea"/>
              <a:cs typeface="SCG" panose="02000503000000020004" pitchFamily="50" charset="-34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93086F5-9EC9-4388-9FBB-908874879335}"/>
              </a:ext>
            </a:extLst>
          </p:cNvPr>
          <p:cNvSpPr txBox="1"/>
          <p:nvPr/>
        </p:nvSpPr>
        <p:spPr>
          <a:xfrm>
            <a:off x="5053763" y="5044032"/>
            <a:ext cx="8356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GEP Coating</a:t>
            </a:r>
            <a:endParaRPr kumimoji="0" lang="th-TH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G" panose="02000503000000020004" pitchFamily="50" charset="-34"/>
              <a:ea typeface="+mn-ea"/>
              <a:cs typeface="SCG" panose="02000503000000020004" pitchFamily="50" charset="-34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1196E56-9DCB-47A7-BAFF-EB43F01D2A20}"/>
              </a:ext>
            </a:extLst>
          </p:cNvPr>
          <p:cNvSpPr txBox="1"/>
          <p:nvPr/>
        </p:nvSpPr>
        <p:spPr>
          <a:xfrm>
            <a:off x="6587830" y="5598162"/>
            <a:ext cx="8356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Curing</a:t>
            </a:r>
            <a:endParaRPr kumimoji="0" lang="th-TH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G" panose="02000503000000020004" pitchFamily="50" charset="-34"/>
              <a:ea typeface="+mn-ea"/>
              <a:cs typeface="SCG" panose="02000503000000020004" pitchFamily="50" charset="-34"/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067BE8CC-0FBD-4D31-8B6B-93A886B4B4AA}"/>
              </a:ext>
            </a:extLst>
          </p:cNvPr>
          <p:cNvSpPr/>
          <p:nvPr/>
        </p:nvSpPr>
        <p:spPr>
          <a:xfrm>
            <a:off x="8860206" y="5264887"/>
            <a:ext cx="251670" cy="23489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67" name="Arrow: Right 66">
            <a:extLst>
              <a:ext uri="{FF2B5EF4-FFF2-40B4-BE49-F238E27FC236}">
                <a16:creationId xmlns:a16="http://schemas.microsoft.com/office/drawing/2014/main" id="{DEBB222F-0ADC-4883-B564-C6F666D65895}"/>
              </a:ext>
            </a:extLst>
          </p:cNvPr>
          <p:cNvSpPr/>
          <p:nvPr/>
        </p:nvSpPr>
        <p:spPr>
          <a:xfrm>
            <a:off x="7289752" y="5287374"/>
            <a:ext cx="1412060" cy="215444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927651B-98BA-43DA-A476-6D7F84F8A0F4}"/>
              </a:ext>
            </a:extLst>
          </p:cNvPr>
          <p:cNvSpPr txBox="1"/>
          <p:nvPr/>
        </p:nvSpPr>
        <p:spPr>
          <a:xfrm>
            <a:off x="8577592" y="5589809"/>
            <a:ext cx="8356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Stockyard</a:t>
            </a:r>
            <a:endParaRPr kumimoji="0" lang="th-TH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G" panose="02000503000000020004" pitchFamily="50" charset="-34"/>
              <a:ea typeface="+mn-ea"/>
              <a:cs typeface="SCG" panose="02000503000000020004" pitchFamily="50" charset="-34"/>
            </a:endParaRPr>
          </a:p>
        </p:txBody>
      </p:sp>
      <p:sp>
        <p:nvSpPr>
          <p:cNvPr id="70" name="Flowchart: Off-page Connector 69">
            <a:extLst>
              <a:ext uri="{FF2B5EF4-FFF2-40B4-BE49-F238E27FC236}">
                <a16:creationId xmlns:a16="http://schemas.microsoft.com/office/drawing/2014/main" id="{341FB462-65E9-4B16-BA4A-BCAD85E4C547}"/>
              </a:ext>
            </a:extLst>
          </p:cNvPr>
          <p:cNvSpPr/>
          <p:nvPr/>
        </p:nvSpPr>
        <p:spPr>
          <a:xfrm>
            <a:off x="2660105" y="3380763"/>
            <a:ext cx="274014" cy="385893"/>
          </a:xfrm>
          <a:prstGeom prst="flowChartOffpageConnector">
            <a:avLst/>
          </a:prstGeom>
          <a:solidFill>
            <a:srgbClr val="FBFAD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72" name="Flowchart: Off-page Connector 71">
            <a:extLst>
              <a:ext uri="{FF2B5EF4-FFF2-40B4-BE49-F238E27FC236}">
                <a16:creationId xmlns:a16="http://schemas.microsoft.com/office/drawing/2014/main" id="{99D2EE78-9C35-4073-A60A-E232B4CE0701}"/>
              </a:ext>
            </a:extLst>
          </p:cNvPr>
          <p:cNvSpPr/>
          <p:nvPr/>
        </p:nvSpPr>
        <p:spPr>
          <a:xfrm>
            <a:off x="2151202" y="3380762"/>
            <a:ext cx="274014" cy="385893"/>
          </a:xfrm>
          <a:prstGeom prst="flowChartOffpageConnector">
            <a:avLst/>
          </a:prstGeom>
          <a:solidFill>
            <a:srgbClr val="FBFAD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73" name="Flowchart: Off-page Connector 72">
            <a:extLst>
              <a:ext uri="{FF2B5EF4-FFF2-40B4-BE49-F238E27FC236}">
                <a16:creationId xmlns:a16="http://schemas.microsoft.com/office/drawing/2014/main" id="{D19F492C-FDF9-4EFD-B0EE-58B6D2FAF2D4}"/>
              </a:ext>
            </a:extLst>
          </p:cNvPr>
          <p:cNvSpPr/>
          <p:nvPr/>
        </p:nvSpPr>
        <p:spPr>
          <a:xfrm>
            <a:off x="3180223" y="3378665"/>
            <a:ext cx="274014" cy="385893"/>
          </a:xfrm>
          <a:prstGeom prst="flowChartOffpageConnector">
            <a:avLst/>
          </a:prstGeom>
          <a:solidFill>
            <a:srgbClr val="FBFAD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74" name="Flowchart: Magnetic Disk 73">
            <a:extLst>
              <a:ext uri="{FF2B5EF4-FFF2-40B4-BE49-F238E27FC236}">
                <a16:creationId xmlns:a16="http://schemas.microsoft.com/office/drawing/2014/main" id="{849CD250-0135-4AD1-AE6E-450820292759}"/>
              </a:ext>
            </a:extLst>
          </p:cNvPr>
          <p:cNvSpPr/>
          <p:nvPr/>
        </p:nvSpPr>
        <p:spPr>
          <a:xfrm>
            <a:off x="2864629" y="4357654"/>
            <a:ext cx="351542" cy="276837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Cordia New" panose="020B0304020202020204" pitchFamily="34" charset="-34"/>
            </a:endParaRPr>
          </a:p>
        </p:txBody>
      </p: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33763BCB-D309-49F2-889D-D85DC038F83D}"/>
              </a:ext>
            </a:extLst>
          </p:cNvPr>
          <p:cNvCxnSpPr>
            <a:cxnSpLocks/>
            <a:stCxn id="73" idx="2"/>
            <a:endCxn id="74" idx="1"/>
          </p:cNvCxnSpPr>
          <p:nvPr/>
        </p:nvCxnSpPr>
        <p:spPr>
          <a:xfrm rot="5400000">
            <a:off x="2882267" y="3922691"/>
            <a:ext cx="593096" cy="27683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293AA594-9BC4-4D53-8039-BBC347DA5A0C}"/>
              </a:ext>
            </a:extLst>
          </p:cNvPr>
          <p:cNvCxnSpPr>
            <a:cxnSpLocks/>
            <a:stCxn id="70" idx="2"/>
            <a:endCxn id="74" idx="1"/>
          </p:cNvCxnSpPr>
          <p:nvPr/>
        </p:nvCxnSpPr>
        <p:spPr>
          <a:xfrm rot="16200000" flipH="1">
            <a:off x="2623257" y="3940511"/>
            <a:ext cx="590998" cy="243288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80442F43-AB66-41B7-AF51-5E5AF6C28E64}"/>
              </a:ext>
            </a:extLst>
          </p:cNvPr>
          <p:cNvCxnSpPr>
            <a:cxnSpLocks/>
            <a:stCxn id="72" idx="2"/>
            <a:endCxn id="74" idx="1"/>
          </p:cNvCxnSpPr>
          <p:nvPr/>
        </p:nvCxnSpPr>
        <p:spPr>
          <a:xfrm rot="16200000" flipH="1">
            <a:off x="2368805" y="3686058"/>
            <a:ext cx="590999" cy="75219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6C1772E5-01DE-433C-A26B-10E279A8859E}"/>
              </a:ext>
            </a:extLst>
          </p:cNvPr>
          <p:cNvSpPr txBox="1"/>
          <p:nvPr/>
        </p:nvSpPr>
        <p:spPr>
          <a:xfrm>
            <a:off x="3179369" y="4199650"/>
            <a:ext cx="773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Slurry Mixer</a:t>
            </a:r>
            <a:endParaRPr kumimoji="0" lang="th-TH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G" panose="02000503000000020004" pitchFamily="50" charset="-34"/>
              <a:ea typeface="+mn-ea"/>
              <a:cs typeface="SCG" panose="02000503000000020004" pitchFamily="50" charset="-34"/>
            </a:endParaRPr>
          </a:p>
        </p:txBody>
      </p:sp>
      <p:cxnSp>
        <p:nvCxnSpPr>
          <p:cNvPr id="79" name="Connector: Elbow 78">
            <a:extLst>
              <a:ext uri="{FF2B5EF4-FFF2-40B4-BE49-F238E27FC236}">
                <a16:creationId xmlns:a16="http://schemas.microsoft.com/office/drawing/2014/main" id="{0198B614-2455-4334-808A-96094E204E2E}"/>
              </a:ext>
            </a:extLst>
          </p:cNvPr>
          <p:cNvCxnSpPr>
            <a:cxnSpLocks/>
            <a:stCxn id="74" idx="3"/>
            <a:endCxn id="53" idx="0"/>
          </p:cNvCxnSpPr>
          <p:nvPr/>
        </p:nvCxnSpPr>
        <p:spPr>
          <a:xfrm rot="16200000" flipH="1">
            <a:off x="2705355" y="4969535"/>
            <a:ext cx="674036" cy="3947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Flowchart: Off-page Connector 82">
            <a:extLst>
              <a:ext uri="{FF2B5EF4-FFF2-40B4-BE49-F238E27FC236}">
                <a16:creationId xmlns:a16="http://schemas.microsoft.com/office/drawing/2014/main" id="{23FE3CB2-46B6-425C-93D7-29A6F3963EA2}"/>
              </a:ext>
            </a:extLst>
          </p:cNvPr>
          <p:cNvSpPr/>
          <p:nvPr/>
        </p:nvSpPr>
        <p:spPr>
          <a:xfrm>
            <a:off x="3622863" y="3387053"/>
            <a:ext cx="119870" cy="385893"/>
          </a:xfrm>
          <a:prstGeom prst="flowChartOffpageConnector">
            <a:avLst/>
          </a:prstGeom>
          <a:solidFill>
            <a:srgbClr val="FBFAD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84" name="Flowchart: Off-page Connector 83">
            <a:extLst>
              <a:ext uri="{FF2B5EF4-FFF2-40B4-BE49-F238E27FC236}">
                <a16:creationId xmlns:a16="http://schemas.microsoft.com/office/drawing/2014/main" id="{6E30B010-75A0-44B0-A0C3-588052D33CFC}"/>
              </a:ext>
            </a:extLst>
          </p:cNvPr>
          <p:cNvSpPr/>
          <p:nvPr/>
        </p:nvSpPr>
        <p:spPr>
          <a:xfrm>
            <a:off x="3893172" y="3387053"/>
            <a:ext cx="119870" cy="385893"/>
          </a:xfrm>
          <a:prstGeom prst="flowChartOffpageConnector">
            <a:avLst/>
          </a:prstGeom>
          <a:solidFill>
            <a:srgbClr val="FBFAD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Cordia New" panose="020B0304020202020204" pitchFamily="34" charset="-34"/>
            </a:endParaRPr>
          </a:p>
        </p:txBody>
      </p:sp>
      <p:cxnSp>
        <p:nvCxnSpPr>
          <p:cNvPr id="85" name="Connector: Elbow 84">
            <a:extLst>
              <a:ext uri="{FF2B5EF4-FFF2-40B4-BE49-F238E27FC236}">
                <a16:creationId xmlns:a16="http://schemas.microsoft.com/office/drawing/2014/main" id="{42637460-9917-48B1-9757-9C12CEF204B9}"/>
              </a:ext>
            </a:extLst>
          </p:cNvPr>
          <p:cNvCxnSpPr>
            <a:cxnSpLocks/>
            <a:stCxn id="83" idx="2"/>
            <a:endCxn id="74" idx="1"/>
          </p:cNvCxnSpPr>
          <p:nvPr/>
        </p:nvCxnSpPr>
        <p:spPr>
          <a:xfrm rot="5400000">
            <a:off x="3069245" y="3744101"/>
            <a:ext cx="584708" cy="642398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8563A5C5-BD86-4BD7-98C1-2D0AC4C86035}"/>
              </a:ext>
            </a:extLst>
          </p:cNvPr>
          <p:cNvCxnSpPr>
            <a:cxnSpLocks/>
            <a:stCxn id="84" idx="2"/>
            <a:endCxn id="74" idx="1"/>
          </p:cNvCxnSpPr>
          <p:nvPr/>
        </p:nvCxnSpPr>
        <p:spPr>
          <a:xfrm rot="5400000">
            <a:off x="3204400" y="3608947"/>
            <a:ext cx="584708" cy="912707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45A11F50-E2E3-459E-AC2C-9ADA199A3CA7}"/>
              </a:ext>
            </a:extLst>
          </p:cNvPr>
          <p:cNvSpPr txBox="1"/>
          <p:nvPr/>
        </p:nvSpPr>
        <p:spPr>
          <a:xfrm rot="18535366">
            <a:off x="3433348" y="2812802"/>
            <a:ext cx="10519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ADVA Weighing</a:t>
            </a:r>
            <a:endParaRPr kumimoji="0" lang="th-TH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G" panose="02000503000000020004" pitchFamily="50" charset="-34"/>
              <a:ea typeface="+mn-ea"/>
              <a:cs typeface="SCG" panose="02000503000000020004" pitchFamily="50" charset="-34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FEB0D9-7D81-4091-9A0E-20D7BAF710A6}"/>
              </a:ext>
            </a:extLst>
          </p:cNvPr>
          <p:cNvSpPr txBox="1"/>
          <p:nvPr/>
        </p:nvSpPr>
        <p:spPr>
          <a:xfrm rot="18535366">
            <a:off x="3742796" y="2808085"/>
            <a:ext cx="10342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GC2 Weighing</a:t>
            </a:r>
            <a:endParaRPr kumimoji="0" lang="th-TH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G" panose="02000503000000020004" pitchFamily="50" charset="-34"/>
              <a:ea typeface="+mn-ea"/>
              <a:cs typeface="SCG" panose="02000503000000020004" pitchFamily="50" charset="-34"/>
            </a:endParaRPr>
          </a:p>
        </p:txBody>
      </p:sp>
      <p:sp>
        <p:nvSpPr>
          <p:cNvPr id="95" name="Flowchart: Off-page Connector 94">
            <a:extLst>
              <a:ext uri="{FF2B5EF4-FFF2-40B4-BE49-F238E27FC236}">
                <a16:creationId xmlns:a16="http://schemas.microsoft.com/office/drawing/2014/main" id="{6D5B942E-D425-49EB-9920-29E6991DA45F}"/>
              </a:ext>
            </a:extLst>
          </p:cNvPr>
          <p:cNvSpPr/>
          <p:nvPr/>
        </p:nvSpPr>
        <p:spPr>
          <a:xfrm>
            <a:off x="4141593" y="3387053"/>
            <a:ext cx="119870" cy="385893"/>
          </a:xfrm>
          <a:prstGeom prst="flowChartOffpageConnector">
            <a:avLst/>
          </a:prstGeom>
          <a:solidFill>
            <a:srgbClr val="FBFAD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Cordia New" panose="020B0304020202020204" pitchFamily="34" charset="-34"/>
            </a:endParaRPr>
          </a:p>
        </p:txBody>
      </p: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34179022-5746-4D6E-92DE-5A11C7BD011F}"/>
              </a:ext>
            </a:extLst>
          </p:cNvPr>
          <p:cNvCxnSpPr>
            <a:cxnSpLocks/>
            <a:stCxn id="95" idx="2"/>
            <a:endCxn id="74" idx="1"/>
          </p:cNvCxnSpPr>
          <p:nvPr/>
        </p:nvCxnSpPr>
        <p:spPr>
          <a:xfrm rot="5400000">
            <a:off x="3328610" y="3484736"/>
            <a:ext cx="584708" cy="1161128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5ECCF4E4-BA5F-4179-8414-3DDC9795D4BA}"/>
              </a:ext>
            </a:extLst>
          </p:cNvPr>
          <p:cNvSpPr txBox="1"/>
          <p:nvPr/>
        </p:nvSpPr>
        <p:spPr>
          <a:xfrm rot="18535366">
            <a:off x="4003963" y="2824226"/>
            <a:ext cx="10342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Pigment</a:t>
            </a:r>
            <a:endParaRPr kumimoji="0" lang="th-TH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G" panose="02000503000000020004" pitchFamily="50" charset="-34"/>
              <a:ea typeface="+mn-ea"/>
              <a:cs typeface="SCG" panose="02000503000000020004" pitchFamily="50" charset="-34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AB8367F-FC71-48CC-9A9F-6C1EE4524089}"/>
              </a:ext>
            </a:extLst>
          </p:cNvPr>
          <p:cNvSpPr txBox="1"/>
          <p:nvPr/>
        </p:nvSpPr>
        <p:spPr>
          <a:xfrm rot="18535366">
            <a:off x="286168" y="2937129"/>
            <a:ext cx="6709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Cement Weighing</a:t>
            </a:r>
            <a:endParaRPr kumimoji="0" lang="th-TH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G" panose="02000503000000020004" pitchFamily="50" charset="-34"/>
              <a:ea typeface="+mn-ea"/>
              <a:cs typeface="SCG" panose="02000503000000020004" pitchFamily="50" charset="-34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DE0F289-2F9E-4181-8B95-35AF48A3758E}"/>
              </a:ext>
            </a:extLst>
          </p:cNvPr>
          <p:cNvSpPr txBox="1"/>
          <p:nvPr/>
        </p:nvSpPr>
        <p:spPr>
          <a:xfrm rot="18535366">
            <a:off x="807943" y="2820630"/>
            <a:ext cx="8356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Aggregate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Weighing</a:t>
            </a:r>
            <a:endParaRPr kumimoji="0" lang="th-TH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G" panose="02000503000000020004" pitchFamily="50" charset="-34"/>
              <a:ea typeface="+mn-ea"/>
              <a:cs typeface="SCG" panose="02000503000000020004" pitchFamily="50" charset="-34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3AF7E61-A067-4298-9343-0117B308230E}"/>
              </a:ext>
            </a:extLst>
          </p:cNvPr>
          <p:cNvSpPr txBox="1"/>
          <p:nvPr/>
        </p:nvSpPr>
        <p:spPr>
          <a:xfrm rot="18535366">
            <a:off x="1360552" y="2820630"/>
            <a:ext cx="8356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Water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Weighing</a:t>
            </a:r>
            <a:endParaRPr kumimoji="0" lang="th-TH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G" panose="02000503000000020004" pitchFamily="50" charset="-34"/>
              <a:ea typeface="+mn-ea"/>
              <a:cs typeface="SCG" panose="02000503000000020004" pitchFamily="50" charset="-34"/>
            </a:endParaRPr>
          </a:p>
        </p:txBody>
      </p:sp>
      <p:sp>
        <p:nvSpPr>
          <p:cNvPr id="104" name="Flowchart: Off-page Connector 103">
            <a:extLst>
              <a:ext uri="{FF2B5EF4-FFF2-40B4-BE49-F238E27FC236}">
                <a16:creationId xmlns:a16="http://schemas.microsoft.com/office/drawing/2014/main" id="{FF25A791-AA7B-4610-AD0D-37B7D96C040B}"/>
              </a:ext>
            </a:extLst>
          </p:cNvPr>
          <p:cNvSpPr/>
          <p:nvPr/>
        </p:nvSpPr>
        <p:spPr>
          <a:xfrm>
            <a:off x="4886718" y="3378665"/>
            <a:ext cx="274014" cy="385893"/>
          </a:xfrm>
          <a:prstGeom prst="flowChartOffpageConnector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Cordia New" panose="020B0304020202020204" pitchFamily="34" charset="-34"/>
            </a:endParaRPr>
          </a:p>
        </p:txBody>
      </p:sp>
      <p:cxnSp>
        <p:nvCxnSpPr>
          <p:cNvPr id="105" name="Connector: Elbow 104">
            <a:extLst>
              <a:ext uri="{FF2B5EF4-FFF2-40B4-BE49-F238E27FC236}">
                <a16:creationId xmlns:a16="http://schemas.microsoft.com/office/drawing/2014/main" id="{309DC51F-9A0B-4B9F-911C-A07FED3F2307}"/>
              </a:ext>
            </a:extLst>
          </p:cNvPr>
          <p:cNvCxnSpPr>
            <a:cxnSpLocks/>
            <a:stCxn id="104" idx="2"/>
            <a:endCxn id="54" idx="0"/>
          </p:cNvCxnSpPr>
          <p:nvPr/>
        </p:nvCxnSpPr>
        <p:spPr>
          <a:xfrm rot="16200000" flipH="1">
            <a:off x="4257243" y="4531040"/>
            <a:ext cx="1534244" cy="128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7D881D74-1037-4892-B927-0D186578EF31}"/>
              </a:ext>
            </a:extLst>
          </p:cNvPr>
          <p:cNvSpPr txBox="1"/>
          <p:nvPr/>
        </p:nvSpPr>
        <p:spPr>
          <a:xfrm>
            <a:off x="1114397" y="5151754"/>
            <a:ext cx="8356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Tile Count</a:t>
            </a:r>
            <a:endParaRPr kumimoji="0" lang="th-TH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G" panose="02000503000000020004" pitchFamily="50" charset="-34"/>
              <a:ea typeface="+mn-ea"/>
              <a:cs typeface="SCG" panose="02000503000000020004" pitchFamily="50" charset="-34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9E34277-3257-45DB-BD5A-4C0A9D3EF6ED}"/>
              </a:ext>
            </a:extLst>
          </p:cNvPr>
          <p:cNvSpPr txBox="1"/>
          <p:nvPr/>
        </p:nvSpPr>
        <p:spPr>
          <a:xfrm>
            <a:off x="6025740" y="5060440"/>
            <a:ext cx="8356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Curing Count</a:t>
            </a:r>
            <a:endParaRPr kumimoji="0" lang="th-TH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G" panose="02000503000000020004" pitchFamily="50" charset="-34"/>
              <a:ea typeface="+mn-ea"/>
              <a:cs typeface="SCG" panose="02000503000000020004" pitchFamily="50" charset="-34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53C1F891-0BB8-4AA9-B35B-AD93075CBD72}"/>
              </a:ext>
            </a:extLst>
          </p:cNvPr>
          <p:cNvSpPr txBox="1"/>
          <p:nvPr/>
        </p:nvSpPr>
        <p:spPr>
          <a:xfrm rot="18535366">
            <a:off x="4785845" y="2749882"/>
            <a:ext cx="12253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GEP, Pigmented GEP</a:t>
            </a:r>
            <a:endParaRPr kumimoji="0" lang="th-TH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G" panose="02000503000000020004" pitchFamily="50" charset="-34"/>
              <a:ea typeface="+mn-ea"/>
              <a:cs typeface="SCG" panose="02000503000000020004" pitchFamily="50" charset="-34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6CC8172-208D-4759-857A-D206706496D6}"/>
              </a:ext>
            </a:extLst>
          </p:cNvPr>
          <p:cNvSpPr txBox="1"/>
          <p:nvPr/>
        </p:nvSpPr>
        <p:spPr>
          <a:xfrm>
            <a:off x="35248" y="2040491"/>
            <a:ext cx="14667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% Weighing by sand bin</a:t>
            </a:r>
            <a:endParaRPr kumimoji="0" lang="th-TH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G" panose="02000503000000020004" pitchFamily="50" charset="-34"/>
              <a:ea typeface="+mn-ea"/>
              <a:cs typeface="SCG" panose="02000503000000020004" pitchFamily="50" charset="-34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9E91F5E-C585-4CCC-8386-3404FDFFA07F}"/>
              </a:ext>
            </a:extLst>
          </p:cNvPr>
          <p:cNvSpPr txBox="1"/>
          <p:nvPr/>
        </p:nvSpPr>
        <p:spPr>
          <a:xfrm>
            <a:off x="596049" y="3440365"/>
            <a:ext cx="11989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Weighing by batch</a:t>
            </a:r>
            <a:endParaRPr kumimoji="0" lang="th-TH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G" panose="02000503000000020004" pitchFamily="50" charset="-34"/>
              <a:ea typeface="+mn-ea"/>
              <a:cs typeface="SCG" panose="02000503000000020004" pitchFamily="50" charset="-34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907EFBE8-E9E6-487F-96F9-49DBCE1F7C9E}"/>
              </a:ext>
            </a:extLst>
          </p:cNvPr>
          <p:cNvSpPr txBox="1"/>
          <p:nvPr/>
        </p:nvSpPr>
        <p:spPr>
          <a:xfrm>
            <a:off x="7149640" y="5068829"/>
            <a:ext cx="9121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De-pallet Count</a:t>
            </a:r>
            <a:endParaRPr kumimoji="0" lang="th-TH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G" panose="02000503000000020004" pitchFamily="50" charset="-34"/>
              <a:ea typeface="+mn-ea"/>
              <a:cs typeface="SCG" panose="02000503000000020004" pitchFamily="50" charset="-34"/>
            </a:endParaRPr>
          </a:p>
        </p:txBody>
      </p:sp>
      <p:sp>
        <p:nvSpPr>
          <p:cNvPr id="117" name="Flowchart: Off-page Connector 116">
            <a:extLst>
              <a:ext uri="{FF2B5EF4-FFF2-40B4-BE49-F238E27FC236}">
                <a16:creationId xmlns:a16="http://schemas.microsoft.com/office/drawing/2014/main" id="{E73316BF-77C0-4A17-B002-FA8F3A31BE53}"/>
              </a:ext>
            </a:extLst>
          </p:cNvPr>
          <p:cNvSpPr/>
          <p:nvPr/>
        </p:nvSpPr>
        <p:spPr>
          <a:xfrm rot="10800000">
            <a:off x="576378" y="6267931"/>
            <a:ext cx="274014" cy="385893"/>
          </a:xfrm>
          <a:prstGeom prst="flowChartOffpageConnector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Cordia New" panose="020B0304020202020204" pitchFamily="34" charset="-34"/>
            </a:endParaRPr>
          </a:p>
        </p:txBody>
      </p:sp>
      <p:cxnSp>
        <p:nvCxnSpPr>
          <p:cNvPr id="118" name="Connector: Elbow 117">
            <a:extLst>
              <a:ext uri="{FF2B5EF4-FFF2-40B4-BE49-F238E27FC236}">
                <a16:creationId xmlns:a16="http://schemas.microsoft.com/office/drawing/2014/main" id="{211EFB41-6633-4FCC-BBE4-251B5A749926}"/>
              </a:ext>
            </a:extLst>
          </p:cNvPr>
          <p:cNvCxnSpPr>
            <a:cxnSpLocks/>
            <a:stCxn id="117" idx="2"/>
            <a:endCxn id="35" idx="4"/>
          </p:cNvCxnSpPr>
          <p:nvPr/>
        </p:nvCxnSpPr>
        <p:spPr>
          <a:xfrm rot="5400000" flipH="1" flipV="1">
            <a:off x="524014" y="5732790"/>
            <a:ext cx="724513" cy="34577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7442FC48-E769-4077-BD02-AA878C832B78}"/>
              </a:ext>
            </a:extLst>
          </p:cNvPr>
          <p:cNvSpPr txBox="1"/>
          <p:nvPr/>
        </p:nvSpPr>
        <p:spPr>
          <a:xfrm>
            <a:off x="431032" y="6633146"/>
            <a:ext cx="773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Mold Oil</a:t>
            </a:r>
            <a:endParaRPr kumimoji="0" lang="th-TH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G" panose="02000503000000020004" pitchFamily="50" charset="-34"/>
              <a:ea typeface="+mn-ea"/>
              <a:cs typeface="SCG" panose="02000503000000020004" pitchFamily="50" charset="-34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BD256647-78D9-403C-98BF-3BA1BEB9068B}"/>
              </a:ext>
            </a:extLst>
          </p:cNvPr>
          <p:cNvSpPr txBox="1"/>
          <p:nvPr/>
        </p:nvSpPr>
        <p:spPr>
          <a:xfrm>
            <a:off x="2255273" y="3453406"/>
            <a:ext cx="11989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Weighing by batch</a:t>
            </a:r>
            <a:endParaRPr kumimoji="0" lang="th-TH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G" panose="02000503000000020004" pitchFamily="50" charset="-34"/>
              <a:ea typeface="+mn-ea"/>
              <a:cs typeface="SCG" panose="02000503000000020004" pitchFamily="50" charset="-34"/>
            </a:endParaRPr>
          </a:p>
        </p:txBody>
      </p:sp>
      <p:sp>
        <p:nvSpPr>
          <p:cNvPr id="125" name="Flowchart: Off-page Connector 124">
            <a:extLst>
              <a:ext uri="{FF2B5EF4-FFF2-40B4-BE49-F238E27FC236}">
                <a16:creationId xmlns:a16="http://schemas.microsoft.com/office/drawing/2014/main" id="{DE4ACC9C-1690-46C0-8C31-4DCDE3B94D90}"/>
              </a:ext>
            </a:extLst>
          </p:cNvPr>
          <p:cNvSpPr/>
          <p:nvPr/>
        </p:nvSpPr>
        <p:spPr>
          <a:xfrm>
            <a:off x="2558084" y="454672"/>
            <a:ext cx="274014" cy="352802"/>
          </a:xfrm>
          <a:prstGeom prst="flowChartOffpageConnector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126" name="Flowchart: Off-page Connector 125">
            <a:extLst>
              <a:ext uri="{FF2B5EF4-FFF2-40B4-BE49-F238E27FC236}">
                <a16:creationId xmlns:a16="http://schemas.microsoft.com/office/drawing/2014/main" id="{B350D7DB-AD9D-440D-A853-554C98581A41}"/>
              </a:ext>
            </a:extLst>
          </p:cNvPr>
          <p:cNvSpPr/>
          <p:nvPr/>
        </p:nvSpPr>
        <p:spPr>
          <a:xfrm>
            <a:off x="2558084" y="867927"/>
            <a:ext cx="274014" cy="352802"/>
          </a:xfrm>
          <a:prstGeom prst="flowChartOffpageConnector">
            <a:avLst/>
          </a:prstGeom>
          <a:solidFill>
            <a:srgbClr val="FBFAD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127" name="Flowchart: Off-page Connector 126">
            <a:extLst>
              <a:ext uri="{FF2B5EF4-FFF2-40B4-BE49-F238E27FC236}">
                <a16:creationId xmlns:a16="http://schemas.microsoft.com/office/drawing/2014/main" id="{4DC61AE3-6EA2-4484-A2DD-A51BFE73D92D}"/>
              </a:ext>
            </a:extLst>
          </p:cNvPr>
          <p:cNvSpPr/>
          <p:nvPr/>
        </p:nvSpPr>
        <p:spPr>
          <a:xfrm>
            <a:off x="2548826" y="1299752"/>
            <a:ext cx="274014" cy="352802"/>
          </a:xfrm>
          <a:prstGeom prst="flowChartOffpageConnector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D30E8D4C-0C5A-4142-9209-639F600BD773}"/>
              </a:ext>
            </a:extLst>
          </p:cNvPr>
          <p:cNvSpPr txBox="1"/>
          <p:nvPr/>
        </p:nvSpPr>
        <p:spPr>
          <a:xfrm>
            <a:off x="2832098" y="463857"/>
            <a:ext cx="14667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Digital : Weighing by batch</a:t>
            </a:r>
            <a:endParaRPr kumimoji="0" lang="th-TH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G" panose="02000503000000020004" pitchFamily="50" charset="-34"/>
              <a:ea typeface="+mn-ea"/>
              <a:cs typeface="SCG" panose="02000503000000020004" pitchFamily="50" charset="-34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019D1C13-BA58-4B41-8668-22537A777C4A}"/>
              </a:ext>
            </a:extLst>
          </p:cNvPr>
          <p:cNvSpPr txBox="1"/>
          <p:nvPr/>
        </p:nvSpPr>
        <p:spPr>
          <a:xfrm>
            <a:off x="2807277" y="911428"/>
            <a:ext cx="23040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Digital &amp; Calculation : No. batch count x BOM  </a:t>
            </a:r>
            <a:endParaRPr kumimoji="0" lang="th-TH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G" panose="02000503000000020004" pitchFamily="50" charset="-34"/>
              <a:ea typeface="+mn-ea"/>
              <a:cs typeface="SCG" panose="02000503000000020004" pitchFamily="50" charset="-34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49300824-79D1-46F9-9500-4F3D6E347CC1}"/>
              </a:ext>
            </a:extLst>
          </p:cNvPr>
          <p:cNvSpPr txBox="1"/>
          <p:nvPr/>
        </p:nvSpPr>
        <p:spPr>
          <a:xfrm>
            <a:off x="2807277" y="1336792"/>
            <a:ext cx="23040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Manual Key in : Key in by tablet</a:t>
            </a:r>
            <a:endParaRPr kumimoji="0" lang="th-TH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G" panose="02000503000000020004" pitchFamily="50" charset="-34"/>
              <a:ea typeface="+mn-ea"/>
              <a:cs typeface="SCG" panose="02000503000000020004" pitchFamily="50" charset="-34"/>
            </a:endParaRPr>
          </a:p>
        </p:txBody>
      </p:sp>
      <p:sp>
        <p:nvSpPr>
          <p:cNvPr id="131" name="Title 1">
            <a:extLst>
              <a:ext uri="{FF2B5EF4-FFF2-40B4-BE49-F238E27FC236}">
                <a16:creationId xmlns:a16="http://schemas.microsoft.com/office/drawing/2014/main" id="{95263A40-FAB7-4554-89AF-B772889C2363}"/>
              </a:ext>
            </a:extLst>
          </p:cNvPr>
          <p:cNvSpPr txBox="1">
            <a:spLocks/>
          </p:cNvSpPr>
          <p:nvPr/>
        </p:nvSpPr>
        <p:spPr>
          <a:xfrm>
            <a:off x="46403" y="-58377"/>
            <a:ext cx="5396435" cy="52493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j-ea"/>
                <a:cs typeface="SCG" panose="02000503000000020004" pitchFamily="50" charset="-34"/>
              </a:rPr>
              <a:t>Raw Materials Information Flow for MES</a:t>
            </a:r>
            <a:endParaRPr kumimoji="0" lang="th-TH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G" panose="02000503000000020004" pitchFamily="50" charset="-34"/>
              <a:ea typeface="+mj-ea"/>
              <a:cs typeface="SCG" panose="02000503000000020004" pitchFamily="50" charset="-34"/>
            </a:endParaRPr>
          </a:p>
        </p:txBody>
      </p:sp>
      <p:graphicFrame>
        <p:nvGraphicFramePr>
          <p:cNvPr id="132" name="Table 131">
            <a:extLst>
              <a:ext uri="{FF2B5EF4-FFF2-40B4-BE49-F238E27FC236}">
                <a16:creationId xmlns:a16="http://schemas.microsoft.com/office/drawing/2014/main" id="{7450C234-F863-4DF5-B1BC-4E2EE646C2C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828412" y="183731"/>
          <a:ext cx="627690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836">
                  <a:extLst>
                    <a:ext uri="{9D8B030D-6E8A-4147-A177-3AD203B41FA5}">
                      <a16:colId xmlns:a16="http://schemas.microsoft.com/office/drawing/2014/main" val="274993803"/>
                    </a:ext>
                  </a:extLst>
                </a:gridCol>
                <a:gridCol w="1599963">
                  <a:extLst>
                    <a:ext uri="{9D8B030D-6E8A-4147-A177-3AD203B41FA5}">
                      <a16:colId xmlns:a16="http://schemas.microsoft.com/office/drawing/2014/main" val="4198950115"/>
                    </a:ext>
                  </a:extLst>
                </a:gridCol>
                <a:gridCol w="3884103">
                  <a:extLst>
                    <a:ext uri="{9D8B030D-6E8A-4147-A177-3AD203B41FA5}">
                      <a16:colId xmlns:a16="http://schemas.microsoft.com/office/drawing/2014/main" val="35293856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Process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Details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Data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2714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Body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Cement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Actual Weighing by batch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5734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th-TH" sz="90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Dry Aggregate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Dry Aggregate = Wet Aggregate – Sand Water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Sand Water = Total Water – Water Mixer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Sand Water = [ (</a:t>
                      </a:r>
                      <a:r>
                        <a:rPr lang="en-US" sz="900" dirty="0" err="1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Cement+Wet</a:t>
                      </a:r>
                      <a:r>
                        <a:rPr lang="en-US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 </a:t>
                      </a:r>
                      <a:r>
                        <a:rPr lang="en-US" sz="900" dirty="0" err="1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Aggregate+Water</a:t>
                      </a:r>
                      <a:r>
                        <a:rPr lang="en-US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) x 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%MM </a:t>
                      </a:r>
                      <a:r>
                        <a:rPr lang="en-US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] – Water Mixer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91725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rgbClr val="0070C0"/>
                          </a:solidFill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Sand Mix</a:t>
                      </a:r>
                      <a:endParaRPr lang="th-TH" sz="900" dirty="0">
                        <a:solidFill>
                          <a:srgbClr val="0070C0"/>
                        </a:solidFill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rgbClr val="0070C0"/>
                          </a:solidFill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%S1 = S1 weight x speed / (S1+S2+S3+S4 weight x speed)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rgbClr val="0070C0"/>
                          </a:solidFill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%S2 = S2 weight x speed / (S1+S2+S3+S4 weight x speed)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rgbClr val="0070C0"/>
                          </a:solidFill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%S3 = S3 weight x speed / (S1+S2+S3+S4 weight x speed)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rgbClr val="0070C0"/>
                          </a:solidFill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%S4 = S4 weight x speed / (S1+S2+S3+S4 weight x speed)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09419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Sand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Dry Aggregate x (%S1 + %S4 + (%S2x50%))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629355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th-TH" sz="90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Dust Stone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Dry Aggregate x %S3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2712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th-TH" sz="90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Regrind Concrete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Dry Aggregate x (%S2x50%)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0763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th-TH" sz="90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Water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Actual Weighing by batch</a:t>
                      </a:r>
                      <a:endParaRPr lang="th-TH" sz="900" dirty="0">
                        <a:solidFill>
                          <a:schemeClr val="tx1"/>
                        </a:solidFill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984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th-TH" sz="90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A/C Ratio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Dry Aggregate / Cement</a:t>
                      </a:r>
                      <a:endParaRPr lang="th-TH" sz="900" dirty="0">
                        <a:solidFill>
                          <a:schemeClr val="tx1"/>
                        </a:solidFill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4104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Mold Oil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rgbClr val="FF0000"/>
                          </a:solidFill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Mold </a:t>
                      </a:r>
                      <a:r>
                        <a:rPr lang="en-US" sz="900" dirty="0" err="1">
                          <a:solidFill>
                            <a:srgbClr val="FF0000"/>
                          </a:solidFill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Oil+Oleic</a:t>
                      </a:r>
                      <a:r>
                        <a:rPr lang="en-US" sz="900" dirty="0">
                          <a:solidFill>
                            <a:srgbClr val="FF0000"/>
                          </a:solidFill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 Usage x (1 - %Oleic)</a:t>
                      </a:r>
                      <a:endParaRPr lang="th-TH" sz="900" dirty="0">
                        <a:solidFill>
                          <a:srgbClr val="FF0000"/>
                        </a:solidFill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3812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Oleic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rgbClr val="FF0000"/>
                          </a:solidFill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Mold </a:t>
                      </a:r>
                      <a:r>
                        <a:rPr lang="en-US" sz="900" dirty="0" err="1">
                          <a:solidFill>
                            <a:srgbClr val="FF0000"/>
                          </a:solidFill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Oil+Oleic</a:t>
                      </a:r>
                      <a:r>
                        <a:rPr lang="en-US" sz="900" dirty="0">
                          <a:solidFill>
                            <a:srgbClr val="FF0000"/>
                          </a:solidFill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 </a:t>
                      </a:r>
                      <a:r>
                        <a:rPr lang="en-US" sz="900" dirty="0" err="1">
                          <a:solidFill>
                            <a:srgbClr val="FF0000"/>
                          </a:solidFill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Uasge</a:t>
                      </a:r>
                      <a:r>
                        <a:rPr lang="en-US" sz="900" dirty="0">
                          <a:solidFill>
                            <a:srgbClr val="FF0000"/>
                          </a:solidFill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 x (%Oleic)</a:t>
                      </a:r>
                      <a:endParaRPr lang="th-TH" sz="900" dirty="0">
                        <a:solidFill>
                          <a:srgbClr val="FF0000"/>
                        </a:solidFill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63245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Slurry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Cement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CG" panose="02000503000000020004" pitchFamily="50" charset="-34"/>
                          <a:ea typeface="+mn-ea"/>
                          <a:cs typeface="SCG" panose="02000503000000020004" pitchFamily="50" charset="-34"/>
                        </a:rPr>
                        <a:t>Actual (Compare with BOM x Batch)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646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Sand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CG" panose="02000503000000020004" pitchFamily="50" charset="-34"/>
                          <a:ea typeface="+mn-ea"/>
                          <a:cs typeface="SCG" panose="02000503000000020004" pitchFamily="50" charset="-34"/>
                        </a:rPr>
                        <a:t>Actual (Compare with BOM x Batch)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000337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Water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CG" panose="02000503000000020004" pitchFamily="50" charset="-34"/>
                          <a:ea typeface="+mn-ea"/>
                          <a:cs typeface="SCG" panose="02000503000000020004" pitchFamily="50" charset="-34"/>
                        </a:rPr>
                        <a:t>-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7570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ADVA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CG" panose="02000503000000020004" pitchFamily="50" charset="-34"/>
                          <a:ea typeface="+mn-ea"/>
                          <a:cs typeface="SCG" panose="02000503000000020004" pitchFamily="50" charset="-34"/>
                        </a:rPr>
                        <a:t>No. batch count x BOM  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343436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GC2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CG" panose="02000503000000020004" pitchFamily="50" charset="-34"/>
                          <a:ea typeface="+mn-ea"/>
                          <a:cs typeface="SCG" panose="02000503000000020004" pitchFamily="50" charset="-34"/>
                        </a:rPr>
                        <a:t>No. batch count x BOM  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126889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Pigment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CG" panose="02000503000000020004" pitchFamily="50" charset="-34"/>
                          <a:ea typeface="+mn-ea"/>
                          <a:cs typeface="SCG" panose="02000503000000020004" pitchFamily="50" charset="-34"/>
                        </a:rPr>
                        <a:t>Actual by color</a:t>
                      </a:r>
                      <a:r>
                        <a:rPr kumimoji="0" lang="th-TH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CG" panose="02000503000000020004" pitchFamily="50" charset="-34"/>
                          <a:ea typeface="+mn-ea"/>
                          <a:cs typeface="SCG" panose="02000503000000020004" pitchFamily="50" charset="-34"/>
                        </a:rPr>
                        <a:t> 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CG" panose="02000503000000020004" pitchFamily="50" charset="-34"/>
                          <a:ea typeface="+mn-ea"/>
                          <a:cs typeface="SCG" panose="02000503000000020004" pitchFamily="50" charset="-34"/>
                        </a:rPr>
                        <a:t>(Move from </a:t>
                      </a:r>
                      <a:r>
                        <a:rPr kumimoji="0" 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CG" panose="02000503000000020004" pitchFamily="50" charset="-34"/>
                          <a:ea typeface="+mn-ea"/>
                          <a:cs typeface="SCG" panose="02000503000000020004" pitchFamily="50" charset="-34"/>
                        </a:rPr>
                        <a:t>Sloc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CG" panose="02000503000000020004" pitchFamily="50" charset="-34"/>
                          <a:ea typeface="+mn-ea"/>
                          <a:cs typeface="SCG" panose="02000503000000020004" pitchFamily="50" charset="-34"/>
                        </a:rPr>
                        <a:t> to </a:t>
                      </a:r>
                      <a:r>
                        <a:rPr kumimoji="0" 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CG" panose="02000503000000020004" pitchFamily="50" charset="-34"/>
                          <a:ea typeface="+mn-ea"/>
                          <a:cs typeface="SCG" panose="02000503000000020004" pitchFamily="50" charset="-34"/>
                        </a:rPr>
                        <a:t>Sloc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CG" panose="02000503000000020004" pitchFamily="50" charset="-34"/>
                          <a:ea typeface="+mn-ea"/>
                          <a:cs typeface="SCG" panose="02000503000000020004" pitchFamily="50" charset="-34"/>
                        </a:rPr>
                        <a:t> T1</a:t>
                      </a:r>
                      <a:r>
                        <a:rPr kumimoji="0" lang="th-TH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CG" panose="02000503000000020004" pitchFamily="50" charset="-34"/>
                          <a:ea typeface="+mn-ea"/>
                          <a:cs typeface="SCG" panose="02000503000000020004" pitchFamily="50" charset="-34"/>
                        </a:rPr>
                        <a:t>)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CG" panose="02000503000000020004" pitchFamily="50" charset="-34"/>
                          <a:ea typeface="+mn-ea"/>
                          <a:cs typeface="SCG" panose="02000503000000020004" pitchFamily="50" charset="-34"/>
                        </a:rPr>
                        <a:t> </a:t>
                      </a:r>
                      <a:endParaRPr lang="th-TH" sz="900" dirty="0">
                        <a:solidFill>
                          <a:schemeClr val="tx1"/>
                        </a:solidFill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1226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GEP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Clear GEP / Pigmented GEP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rgbClr val="FF0000"/>
                          </a:solidFill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Clear GEP / Pigmented GEP Usage</a:t>
                      </a:r>
                      <a:endParaRPr lang="th-TH" sz="900" dirty="0">
                        <a:solidFill>
                          <a:srgbClr val="FF0000"/>
                        </a:solidFill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9809946"/>
                  </a:ext>
                </a:extLst>
              </a:tr>
            </a:tbl>
          </a:graphicData>
        </a:graphic>
      </p:graphicFrame>
      <p:sp>
        <p:nvSpPr>
          <p:cNvPr id="134" name="Title 1">
            <a:extLst>
              <a:ext uri="{FF2B5EF4-FFF2-40B4-BE49-F238E27FC236}">
                <a16:creationId xmlns:a16="http://schemas.microsoft.com/office/drawing/2014/main" id="{F8875551-F8E9-4D05-8A0B-7A017C308D01}"/>
              </a:ext>
            </a:extLst>
          </p:cNvPr>
          <p:cNvSpPr txBox="1">
            <a:spLocks/>
          </p:cNvSpPr>
          <p:nvPr/>
        </p:nvSpPr>
        <p:spPr>
          <a:xfrm>
            <a:off x="5733934" y="38689"/>
            <a:ext cx="2908565" cy="21544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j-ea"/>
                <a:cs typeface="SCG" panose="02000503000000020004" pitchFamily="50" charset="-34"/>
              </a:rPr>
              <a:t>Raw Materials Data Collection</a:t>
            </a:r>
            <a:endParaRPr kumimoji="0" lang="th-TH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G" panose="02000503000000020004" pitchFamily="50" charset="-34"/>
              <a:ea typeface="+mj-ea"/>
              <a:cs typeface="SCG" panose="02000503000000020004" pitchFamily="50" charset="-34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795B395-820D-482F-8FD6-CE09C9682D64}"/>
              </a:ext>
            </a:extLst>
          </p:cNvPr>
          <p:cNvSpPr txBox="1"/>
          <p:nvPr/>
        </p:nvSpPr>
        <p:spPr>
          <a:xfrm>
            <a:off x="543219" y="3741085"/>
            <a:ext cx="14667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Dry base x Moisture </a:t>
            </a:r>
            <a:endParaRPr kumimoji="0" lang="th-TH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G" panose="02000503000000020004" pitchFamily="50" charset="-34"/>
              <a:ea typeface="+mn-ea"/>
              <a:cs typeface="SCG" panose="02000503000000020004" pitchFamily="50" charset="-34"/>
            </a:endParaRPr>
          </a:p>
        </p:txBody>
      </p:sp>
      <p:sp>
        <p:nvSpPr>
          <p:cNvPr id="93" name="Flowchart: Off-page Connector 92">
            <a:extLst>
              <a:ext uri="{FF2B5EF4-FFF2-40B4-BE49-F238E27FC236}">
                <a16:creationId xmlns:a16="http://schemas.microsoft.com/office/drawing/2014/main" id="{4D2A971B-A873-4B8B-AE7E-0EDA060CDCE2}"/>
              </a:ext>
            </a:extLst>
          </p:cNvPr>
          <p:cNvSpPr/>
          <p:nvPr/>
        </p:nvSpPr>
        <p:spPr>
          <a:xfrm rot="10800000">
            <a:off x="1171829" y="6266867"/>
            <a:ext cx="274014" cy="385893"/>
          </a:xfrm>
          <a:prstGeom prst="flowChartOffpageConnector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Cordia New" panose="020B0304020202020204" pitchFamily="34" charset="-34"/>
            </a:endParaRPr>
          </a:p>
        </p:txBody>
      </p: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DA21996B-DEE9-4F9C-8C43-A3B4E3B90BC8}"/>
              </a:ext>
            </a:extLst>
          </p:cNvPr>
          <p:cNvCxnSpPr>
            <a:cxnSpLocks/>
            <a:stCxn id="93" idx="2"/>
            <a:endCxn id="35" idx="4"/>
          </p:cNvCxnSpPr>
          <p:nvPr/>
        </p:nvCxnSpPr>
        <p:spPr>
          <a:xfrm rot="16200000" flipV="1">
            <a:off x="822272" y="5780302"/>
            <a:ext cx="723449" cy="24968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CA03C7CE-AED8-4124-8C72-39E4DF21A6F0}"/>
              </a:ext>
            </a:extLst>
          </p:cNvPr>
          <p:cNvSpPr txBox="1"/>
          <p:nvPr/>
        </p:nvSpPr>
        <p:spPr>
          <a:xfrm>
            <a:off x="1028181" y="6634211"/>
            <a:ext cx="773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% Oleic acid</a:t>
            </a:r>
            <a:endParaRPr kumimoji="0" lang="th-TH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G" panose="02000503000000020004" pitchFamily="50" charset="-34"/>
              <a:ea typeface="+mn-ea"/>
              <a:cs typeface="SCG" panose="02000503000000020004" pitchFamily="50" charset="-34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D72A41-EF79-4F4A-9625-3CEA82B01A23}"/>
              </a:ext>
            </a:extLst>
          </p:cNvPr>
          <p:cNvSpPr txBox="1"/>
          <p:nvPr/>
        </p:nvSpPr>
        <p:spPr>
          <a:xfrm>
            <a:off x="1290199" y="1821633"/>
            <a:ext cx="20931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เปลี่ยนเป็นค่า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G" panose="02000503000000020004" pitchFamily="50" charset="-34"/>
              <a:ea typeface="+mn-ea"/>
              <a:cs typeface="SCG" panose="02000503000000020004" pitchFamily="50" charset="-3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Actual Mass Flow by Sand Bin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ตัดสัญญาณด้วยกระแสที่บอกว่า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Full </a:t>
            </a:r>
            <a:r>
              <a:rPr kumimoji="0" lang="th-TH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แล้วเก็บไปเป็น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1 batch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G" panose="02000503000000020004" pitchFamily="50" charset="-34"/>
              <a:ea typeface="+mn-ea"/>
              <a:cs typeface="SCG" panose="02000503000000020004" pitchFamily="50" charset="-34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1D313B88-3F73-4E08-B5B7-EDE218598942}"/>
              </a:ext>
            </a:extLst>
          </p:cNvPr>
          <p:cNvSpPr txBox="1"/>
          <p:nvPr/>
        </p:nvSpPr>
        <p:spPr>
          <a:xfrm>
            <a:off x="1195656" y="2622630"/>
            <a:ext cx="11574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Sand Mix Current</a:t>
            </a:r>
            <a:endParaRPr kumimoji="0" lang="th-TH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G" panose="02000503000000020004" pitchFamily="50" charset="-34"/>
              <a:ea typeface="+mn-ea"/>
              <a:cs typeface="SCG" panose="02000503000000020004" pitchFamily="50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059B8D-5A14-47C5-AAD8-8BD16B136105}"/>
              </a:ext>
            </a:extLst>
          </p:cNvPr>
          <p:cNvSpPr/>
          <p:nvPr/>
        </p:nvSpPr>
        <p:spPr>
          <a:xfrm>
            <a:off x="10868720" y="16778"/>
            <a:ext cx="1316386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Red Text = Manual key in</a:t>
            </a:r>
            <a:endParaRPr kumimoji="0" lang="th-TH" sz="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32F9A6B8-6A8C-45E5-A1E3-FDA9728D7DD8}"/>
              </a:ext>
            </a:extLst>
          </p:cNvPr>
          <p:cNvSpPr txBox="1"/>
          <p:nvPr/>
        </p:nvSpPr>
        <p:spPr>
          <a:xfrm>
            <a:off x="9454705" y="5090199"/>
            <a:ext cx="16781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SMC Stoc :  Primary Store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Pigment 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Sloc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 : T1</a:t>
            </a:r>
            <a:endParaRPr kumimoji="0" lang="th-TH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G" panose="02000503000000020004" pitchFamily="50" charset="-34"/>
              <a:ea typeface="+mn-ea"/>
              <a:cs typeface="SCG" panose="02000503000000020004" pitchFamily="50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334487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E4B30-5B24-4F36-BAAB-F4081F8DA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472" y="163790"/>
            <a:ext cx="10515600" cy="607998"/>
          </a:xfrm>
        </p:spPr>
        <p:txBody>
          <a:bodyPr>
            <a:normAutofit fontScale="90000"/>
          </a:bodyPr>
          <a:lstStyle/>
          <a:p>
            <a:r>
              <a:rPr lang="en-US" dirty="0"/>
              <a:t>Manual key in</a:t>
            </a:r>
            <a:endParaRPr lang="th-TH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D28E9DB-E5CA-4E21-8D81-6835BB34C234}"/>
              </a:ext>
            </a:extLst>
          </p:cNvPr>
          <p:cNvSpPr txBox="1">
            <a:spLocks/>
          </p:cNvSpPr>
          <p:nvPr/>
        </p:nvSpPr>
        <p:spPr>
          <a:xfrm>
            <a:off x="326472" y="839449"/>
            <a:ext cx="8411622" cy="43396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2189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rgbClr val="DDDDDD">
                    <a:lumMod val="25000"/>
                  </a:srgbClr>
                </a:solidFill>
                <a:effectLst/>
                <a:uLnTx/>
                <a:uFillTx/>
                <a:latin typeface="SCG" panose="02000503000000020004" pitchFamily="50" charset="-34"/>
                <a:ea typeface="+mj-ea"/>
                <a:cs typeface="SCG" panose="02000503000000020004" pitchFamily="50" charset="-34"/>
              </a:rPr>
              <a:t>Input Mould Oil</a:t>
            </a: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DDDDDD">
                    <a:lumMod val="25000"/>
                  </a:srgbClr>
                </a:solidFill>
                <a:effectLst/>
                <a:uLnTx/>
                <a:uFillTx/>
                <a:latin typeface="SCG" panose="02000503000000020004" pitchFamily="50" charset="-34"/>
                <a:ea typeface="+mj-ea"/>
                <a:cs typeface="SCG" panose="02000503000000020004" pitchFamily="50" charset="-34"/>
              </a:rPr>
              <a:t>,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rgbClr val="DDDDDD">
                    <a:lumMod val="25000"/>
                  </a:srgbClr>
                </a:solidFill>
                <a:effectLst/>
                <a:uLnTx/>
                <a:uFillTx/>
                <a:latin typeface="SCG" panose="02000503000000020004" pitchFamily="50" charset="-34"/>
                <a:ea typeface="+mj-ea"/>
                <a:cs typeface="SCG" panose="02000503000000020004" pitchFamily="50" charset="-34"/>
              </a:rPr>
              <a:t> GEP/Pigmented GEP usage</a:t>
            </a: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DDDDDD">
                    <a:lumMod val="25000"/>
                  </a:srgbClr>
                </a:solidFill>
                <a:effectLst/>
                <a:uLnTx/>
                <a:uFillTx/>
                <a:latin typeface="SCG" panose="02000503000000020004" pitchFamily="50" charset="-34"/>
                <a:ea typeface="+mj-ea"/>
                <a:cs typeface="SCG" panose="02000503000000020004" pitchFamily="50" charset="-34"/>
              </a:rPr>
              <a:t>, Bad Mix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rgbClr val="DDDDDD">
                    <a:lumMod val="25000"/>
                  </a:srgbClr>
                </a:solidFill>
                <a:effectLst/>
                <a:uLnTx/>
                <a:uFillTx/>
                <a:latin typeface="SCG" panose="02000503000000020004" pitchFamily="50" charset="-34"/>
                <a:ea typeface="+mj-ea"/>
                <a:cs typeface="SCG" panose="02000503000000020004" pitchFamily="50" charset="-34"/>
              </a:rPr>
              <a:t> by QC </a:t>
            </a:r>
            <a:endParaRPr kumimoji="0" lang="th-TH" sz="2400" b="0" i="1" u="none" strike="noStrike" kern="0" cap="none" spc="0" normalizeH="0" baseline="0" noProof="0" dirty="0">
              <a:ln>
                <a:noFill/>
              </a:ln>
              <a:solidFill>
                <a:srgbClr val="DDDDDD">
                  <a:lumMod val="25000"/>
                </a:srgbClr>
              </a:solidFill>
              <a:effectLst/>
              <a:uLnTx/>
              <a:uFillTx/>
              <a:latin typeface="SCG" panose="02000503000000020004" pitchFamily="50" charset="-34"/>
              <a:ea typeface="+mj-ea"/>
              <a:cs typeface="SCG" panose="02000503000000020004" pitchFamily="50" charset="-3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05615E-E759-4F6C-8BCF-070BD79DD77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406" t="25319" r="3478" b="7659"/>
          <a:stretch/>
        </p:blipFill>
        <p:spPr>
          <a:xfrm>
            <a:off x="442232" y="1456647"/>
            <a:ext cx="4622389" cy="2229725"/>
          </a:xfrm>
          <a:prstGeom prst="rect">
            <a:avLst/>
          </a:prstGeom>
        </p:spPr>
      </p:pic>
      <p:pic>
        <p:nvPicPr>
          <p:cNvPr id="6" name="Picture 4" descr="Click Com">
            <a:extLst>
              <a:ext uri="{FF2B5EF4-FFF2-40B4-BE49-F238E27FC236}">
                <a16:creationId xmlns:a16="http://schemas.microsoft.com/office/drawing/2014/main" id="{2EDBC5E1-48FC-40ED-8777-75B4096AB2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5813" y="1839252"/>
            <a:ext cx="915426" cy="915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35C8CB69-0F2F-4404-9C5B-B0FE2036376C}"/>
              </a:ext>
            </a:extLst>
          </p:cNvPr>
          <p:cNvSpPr/>
          <p:nvPr/>
        </p:nvSpPr>
        <p:spPr>
          <a:xfrm>
            <a:off x="4656424" y="1839252"/>
            <a:ext cx="375055" cy="368989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3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th-TH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Cordia New" panose="020B0304020202020204" pitchFamily="34" charset="-34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48C65A-395B-44AE-83B0-EA3521D45B3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488" t="25587" r="4702" b="14030"/>
          <a:stretch/>
        </p:blipFill>
        <p:spPr>
          <a:xfrm>
            <a:off x="443987" y="3937266"/>
            <a:ext cx="4619620" cy="2041732"/>
          </a:xfrm>
          <a:prstGeom prst="rect">
            <a:avLst/>
          </a:prstGeom>
        </p:spPr>
      </p:pic>
      <p:pic>
        <p:nvPicPr>
          <p:cNvPr id="9" name="Picture 4" descr="Click Com">
            <a:extLst>
              <a:ext uri="{FF2B5EF4-FFF2-40B4-BE49-F238E27FC236}">
                <a16:creationId xmlns:a16="http://schemas.microsoft.com/office/drawing/2014/main" id="{23797161-D573-411E-9A36-DF2099FDD8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61271" y="4845422"/>
            <a:ext cx="915426" cy="915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117740B3-EE87-4177-8193-48FFC8569478}"/>
              </a:ext>
            </a:extLst>
          </p:cNvPr>
          <p:cNvSpPr/>
          <p:nvPr/>
        </p:nvSpPr>
        <p:spPr>
          <a:xfrm>
            <a:off x="2108185" y="4660928"/>
            <a:ext cx="375055" cy="368989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3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th-TH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Cordia New" panose="020B0304020202020204" pitchFamily="34" charset="-34"/>
            </a:endParaRPr>
          </a:p>
        </p:txBody>
      </p:sp>
      <p:pic>
        <p:nvPicPr>
          <p:cNvPr id="11" name="Picture 4" descr="Click Com">
            <a:extLst>
              <a:ext uri="{FF2B5EF4-FFF2-40B4-BE49-F238E27FC236}">
                <a16:creationId xmlns:a16="http://schemas.microsoft.com/office/drawing/2014/main" id="{5E19DE5E-60E6-47DE-92DC-DD03BF559C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62439" y="4500419"/>
            <a:ext cx="915426" cy="915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0243601E-F588-4B0B-8C62-C085240AEC5B}"/>
              </a:ext>
            </a:extLst>
          </p:cNvPr>
          <p:cNvSpPr/>
          <p:nvPr/>
        </p:nvSpPr>
        <p:spPr>
          <a:xfrm>
            <a:off x="4311334" y="4315924"/>
            <a:ext cx="375055" cy="368989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3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lang="th-TH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FB5012-1B64-4959-A3A5-02D574982835}"/>
              </a:ext>
            </a:extLst>
          </p:cNvPr>
          <p:cNvSpPr/>
          <p:nvPr/>
        </p:nvSpPr>
        <p:spPr>
          <a:xfrm>
            <a:off x="5181754" y="1635245"/>
            <a:ext cx="368886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1218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DDDDDD">
                    <a:lumMod val="25000"/>
                  </a:srgbClr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1. </a:t>
            </a:r>
            <a:r>
              <a:rPr kumimoji="0" lang="th-TH" sz="1600" b="0" i="0" u="none" strike="noStrike" kern="0" cap="none" spc="0" normalizeH="0" baseline="0" noProof="0" dirty="0">
                <a:ln>
                  <a:noFill/>
                </a:ln>
                <a:solidFill>
                  <a:srgbClr val="DDDDDD">
                    <a:lumMod val="25000"/>
                  </a:srgbClr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กดเลือก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DDDDDD">
                    <a:lumMod val="25000"/>
                  </a:srgbClr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QC Adjust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DDDDDD">
                    <a:lumMod val="25000"/>
                  </a:srgbClr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 </a:t>
            </a:r>
            <a:endParaRPr kumimoji="0" lang="th-TH" sz="1600" b="0" i="0" u="none" strike="noStrike" kern="0" cap="none" spc="0" normalizeH="0" baseline="0" noProof="0" dirty="0">
              <a:ln>
                <a:noFill/>
              </a:ln>
              <a:solidFill>
                <a:srgbClr val="DDDDDD">
                  <a:lumMod val="25000"/>
                </a:srgbClr>
              </a:solidFill>
              <a:effectLst/>
              <a:uLnTx/>
              <a:uFillTx/>
              <a:latin typeface="SCG" panose="02000503000000020004" pitchFamily="50" charset="-34"/>
              <a:ea typeface="+mn-ea"/>
              <a:cs typeface="SCG" panose="02000503000000020004" pitchFamily="50" charset="-3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DACF5A-4FD6-433A-91E3-2A5776B689E1}"/>
              </a:ext>
            </a:extLst>
          </p:cNvPr>
          <p:cNvSpPr/>
          <p:nvPr/>
        </p:nvSpPr>
        <p:spPr>
          <a:xfrm>
            <a:off x="5181754" y="4077283"/>
            <a:ext cx="368886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1218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DDDDDD">
                    <a:lumMod val="25000"/>
                  </a:srgbClr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2. </a:t>
            </a:r>
            <a:r>
              <a:rPr kumimoji="0" lang="th-TH" sz="1600" b="0" i="0" u="none" strike="noStrike" kern="0" cap="none" spc="0" normalizeH="0" baseline="0" noProof="0" dirty="0">
                <a:ln>
                  <a:noFill/>
                </a:ln>
                <a:solidFill>
                  <a:srgbClr val="DDDDDD">
                    <a:lumMod val="25000"/>
                  </a:srgbClr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กดเลือก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DDDDDD">
                    <a:lumMod val="25000"/>
                  </a:srgbClr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Lot </a:t>
            </a:r>
            <a:r>
              <a:rPr kumimoji="0" lang="th-TH" sz="1600" b="0" i="0" u="none" strike="noStrike" kern="0" cap="none" spc="0" normalizeH="0" baseline="0" noProof="0" dirty="0">
                <a:ln>
                  <a:noFill/>
                </a:ln>
                <a:solidFill>
                  <a:srgbClr val="DDDDDD">
                    <a:lumMod val="25000"/>
                  </a:srgbClr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ที่ต้องการจะใส่ข้อมูล</a:t>
            </a:r>
          </a:p>
          <a:p>
            <a:pPr marL="0" marR="0" lvl="0" indent="0" algn="l" defTabSz="1218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600" b="0" i="0" u="none" strike="noStrike" kern="0" cap="none" spc="0" normalizeH="0" baseline="0" noProof="0" dirty="0">
                <a:ln>
                  <a:noFill/>
                </a:ln>
                <a:solidFill>
                  <a:srgbClr val="DDDDDD">
                    <a:lumMod val="25000"/>
                  </a:srgbClr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3. กดเลือกหัวข้อแล้วใส่ค่า </a:t>
            </a:r>
            <a:r>
              <a:rPr kumimoji="0" lang="en-GB" sz="1600" b="0" i="1" u="none" strike="noStrike" kern="0" cap="none" spc="0" normalizeH="0" baseline="0" noProof="0" dirty="0">
                <a:ln>
                  <a:noFill/>
                </a:ln>
                <a:solidFill>
                  <a:srgbClr val="DDDDDD">
                    <a:lumMod val="25000"/>
                  </a:srgbClr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Mould Oil</a:t>
            </a: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DDDDDD">
                    <a:lumMod val="25000"/>
                  </a:srgbClr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,</a:t>
            </a:r>
            <a:r>
              <a:rPr kumimoji="0" lang="en-GB" sz="1600" b="0" i="1" u="none" strike="noStrike" kern="0" cap="none" spc="0" normalizeH="0" baseline="0" noProof="0" dirty="0">
                <a:ln>
                  <a:noFill/>
                </a:ln>
                <a:solidFill>
                  <a:srgbClr val="DDDDDD">
                    <a:lumMod val="25000"/>
                  </a:srgbClr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 GEP/Pigmented GEP usage</a:t>
            </a: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DDDDDD">
                    <a:lumMod val="25000"/>
                  </a:srgbClr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, Bad Mix</a:t>
            </a:r>
            <a:r>
              <a:rPr kumimoji="0" lang="en-GB" sz="1600" b="0" i="1" u="none" strike="noStrike" kern="0" cap="none" spc="0" normalizeH="0" baseline="0" noProof="0" dirty="0">
                <a:ln>
                  <a:noFill/>
                </a:ln>
                <a:solidFill>
                  <a:srgbClr val="DDDDDD">
                    <a:lumMod val="25000"/>
                  </a:srgbClr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 </a:t>
            </a:r>
          </a:p>
          <a:p>
            <a:pPr marL="0" marR="0" lvl="0" indent="0" algn="l" defTabSz="1218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600" b="0" i="0" u="none" strike="noStrike" kern="0" cap="none" spc="0" normalizeH="0" baseline="0" noProof="0" dirty="0">
                <a:ln>
                  <a:noFill/>
                </a:ln>
                <a:solidFill>
                  <a:srgbClr val="DDDDDD">
                    <a:lumMod val="25000"/>
                  </a:srgbClr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4. กด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DDDDDD">
                    <a:lumMod val="25000"/>
                  </a:srgbClr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Update</a:t>
            </a:r>
            <a:r>
              <a:rPr kumimoji="0" lang="th-TH" sz="1600" b="0" i="0" u="none" strike="noStrike" kern="0" cap="none" spc="0" normalizeH="0" baseline="0" noProof="0" dirty="0">
                <a:ln>
                  <a:noFill/>
                </a:ln>
                <a:solidFill>
                  <a:srgbClr val="DDDDDD">
                    <a:lumMod val="25000"/>
                  </a:srgbClr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 </a:t>
            </a:r>
          </a:p>
        </p:txBody>
      </p:sp>
      <p:pic>
        <p:nvPicPr>
          <p:cNvPr id="15" name="Picture 4" descr="Click Com">
            <a:extLst>
              <a:ext uri="{FF2B5EF4-FFF2-40B4-BE49-F238E27FC236}">
                <a16:creationId xmlns:a16="http://schemas.microsoft.com/office/drawing/2014/main" id="{4544A517-2160-435C-B989-333DE8BA10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53621" y="5626725"/>
            <a:ext cx="915426" cy="915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717ADACC-E38F-45A1-B653-203B93DFAC84}"/>
              </a:ext>
            </a:extLst>
          </p:cNvPr>
          <p:cNvSpPr/>
          <p:nvPr/>
        </p:nvSpPr>
        <p:spPr>
          <a:xfrm>
            <a:off x="4502516" y="5442230"/>
            <a:ext cx="375055" cy="368989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3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  <a:endParaRPr kumimoji="0" lang="th-TH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Cordia New" panose="020B03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819055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F72561-DA9B-4404-9F2C-CD6012E58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861" y="862641"/>
            <a:ext cx="4397786" cy="56428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C55D97-8ED4-421D-9A24-95E1B6DB2997}"/>
              </a:ext>
            </a:extLst>
          </p:cNvPr>
          <p:cNvSpPr txBox="1"/>
          <p:nvPr/>
        </p:nvSpPr>
        <p:spPr>
          <a:xfrm>
            <a:off x="3611262" y="1785749"/>
            <a:ext cx="24499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LotProdID</a:t>
            </a:r>
            <a:r>
              <a:rPr kumimoji="0" lang="th-TH" sz="11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Cordia New" panose="020B0304020202020204" pitchFamily="34" charset="-34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(MES)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8E2B5E-6491-4F0A-8D7D-6F7A4777E1B1}"/>
              </a:ext>
            </a:extLst>
          </p:cNvPr>
          <p:cNvSpPr/>
          <p:nvPr/>
        </p:nvSpPr>
        <p:spPr>
          <a:xfrm>
            <a:off x="0" y="-1"/>
            <a:ext cx="12192000" cy="572519"/>
          </a:xfrm>
          <a:prstGeom prst="rect">
            <a:avLst/>
          </a:prstGeom>
          <a:solidFill>
            <a:schemeClr val="tx1"/>
          </a:solidFill>
        </p:spPr>
        <p:txBody>
          <a:bodyPr wrap="square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API for GI data (Auto</a:t>
            </a:r>
            <a:r>
              <a:rPr kumimoji="0" lang="th-TH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Pick List) </a:t>
            </a:r>
            <a:endParaRPr kumimoji="0" lang="th-TH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Cordia New" panose="020B0304020202020204" pitchFamily="34" charset="-34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38E09AB-8A1B-4F8D-9E6D-A5ED205D28B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9110477" y="660729"/>
          <a:ext cx="3011851" cy="1687830"/>
        </p:xfrm>
        <a:graphic>
          <a:graphicData uri="http://schemas.openxmlformats.org/drawingml/2006/table">
            <a:tbl>
              <a:tblPr/>
              <a:tblGrid>
                <a:gridCol w="414000">
                  <a:extLst>
                    <a:ext uri="{9D8B030D-6E8A-4147-A177-3AD203B41FA5}">
                      <a16:colId xmlns:a16="http://schemas.microsoft.com/office/drawing/2014/main" val="2613472700"/>
                    </a:ext>
                  </a:extLst>
                </a:gridCol>
                <a:gridCol w="424350">
                  <a:extLst>
                    <a:ext uri="{9D8B030D-6E8A-4147-A177-3AD203B41FA5}">
                      <a16:colId xmlns:a16="http://schemas.microsoft.com/office/drawing/2014/main" val="3284869982"/>
                    </a:ext>
                  </a:extLst>
                </a:gridCol>
                <a:gridCol w="2173501">
                  <a:extLst>
                    <a:ext uri="{9D8B030D-6E8A-4147-A177-3AD203B41FA5}">
                      <a16:colId xmlns:a16="http://schemas.microsoft.com/office/drawing/2014/main" val="542091587"/>
                    </a:ext>
                  </a:extLst>
                </a:gridCol>
              </a:tblGrid>
              <a:tr h="223220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CompID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CompanyCode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CompanyDesc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502796"/>
                  </a:ext>
                </a:extLst>
              </a:tr>
              <a:tr h="126613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CP001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1220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h-TH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บริษัท สยามไฟเบอร์ซีเมนต์กรุ๊ป จำกัด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459818"/>
                  </a:ext>
                </a:extLst>
              </a:tr>
              <a:tr h="126613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CP002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0180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h-TH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บริษัท เอสซีจี ซิเมนต์-ผลิตภัณฑ์ก่อสร้าง จำกัด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4836717"/>
                  </a:ext>
                </a:extLst>
              </a:tr>
              <a:tr h="126613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CP003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0300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h-TH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บริษัท เอสซีจี รูฟฟิ่ง จำกัด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7749371"/>
                  </a:ext>
                </a:extLst>
              </a:tr>
              <a:tr h="126613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CP004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0110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THE SIAM CEMENT PUBLIC COMPANY LIMITED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3303150"/>
                  </a:ext>
                </a:extLst>
              </a:tr>
              <a:tr h="126613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CP005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0210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THE SIAM FIBRE-CEMENT CO., LTD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2448644"/>
                  </a:ext>
                </a:extLst>
              </a:tr>
              <a:tr h="126613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CP006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0320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h-TH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บริษัท เอสซีจี แลนด์สเคป จํากัด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2978501"/>
                  </a:ext>
                </a:extLst>
              </a:tr>
              <a:tr h="126613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CP007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1030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h-TH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บริษัทสระบุรีรัชต์ จำกัด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3002476"/>
                  </a:ext>
                </a:extLst>
              </a:tr>
              <a:tr h="126613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CP008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0260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h-TH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บริษัทสยามไฟเบอร์กลาส จำกัด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61028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DC72EE9-8C85-47E1-843E-BB0961AD1F6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9110477" y="2421835"/>
          <a:ext cx="3011852" cy="4385425"/>
        </p:xfrm>
        <a:graphic>
          <a:graphicData uri="http://schemas.openxmlformats.org/drawingml/2006/table">
            <a:tbl>
              <a:tblPr/>
              <a:tblGrid>
                <a:gridCol w="484785">
                  <a:extLst>
                    <a:ext uri="{9D8B030D-6E8A-4147-A177-3AD203B41FA5}">
                      <a16:colId xmlns:a16="http://schemas.microsoft.com/office/drawing/2014/main" val="2322069853"/>
                    </a:ext>
                  </a:extLst>
                </a:gridCol>
                <a:gridCol w="484785">
                  <a:extLst>
                    <a:ext uri="{9D8B030D-6E8A-4147-A177-3AD203B41FA5}">
                      <a16:colId xmlns:a16="http://schemas.microsoft.com/office/drawing/2014/main" val="1331648560"/>
                    </a:ext>
                  </a:extLst>
                </a:gridCol>
                <a:gridCol w="484785">
                  <a:extLst>
                    <a:ext uri="{9D8B030D-6E8A-4147-A177-3AD203B41FA5}">
                      <a16:colId xmlns:a16="http://schemas.microsoft.com/office/drawing/2014/main" val="3579868092"/>
                    </a:ext>
                  </a:extLst>
                </a:gridCol>
                <a:gridCol w="1557497">
                  <a:extLst>
                    <a:ext uri="{9D8B030D-6E8A-4147-A177-3AD203B41FA5}">
                      <a16:colId xmlns:a16="http://schemas.microsoft.com/office/drawing/2014/main" val="440745008"/>
                    </a:ext>
                  </a:extLst>
                </a:gridCol>
              </a:tblGrid>
              <a:tr h="119459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PlantID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Plant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CompID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Plant_Description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6216990"/>
                  </a:ext>
                </a:extLst>
              </a:tr>
              <a:tr h="119459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PT001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C211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CP001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SFCG-Lampang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8442031"/>
                  </a:ext>
                </a:extLst>
              </a:tr>
              <a:tr h="119459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PT002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C221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CP001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SFCG-Tha Luang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8241699"/>
                  </a:ext>
                </a:extLst>
              </a:tr>
              <a:tr h="119459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PT003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C231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CP001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SFCG-Saraburi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594657"/>
                  </a:ext>
                </a:extLst>
              </a:tr>
              <a:tr h="119459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PT004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C241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CP001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SFCG-Thung Song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1043142"/>
                  </a:ext>
                </a:extLst>
              </a:tr>
              <a:tr h="119459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PT005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C251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CP001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SFCG-Nong Khae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3753537"/>
                  </a:ext>
                </a:extLst>
              </a:tr>
              <a:tr h="119459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PT006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C261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CP001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SFCG-SDBC Plant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7723810"/>
                  </a:ext>
                </a:extLst>
              </a:tr>
              <a:tr h="119459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PT007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2111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CP001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SFCG-Lampang-Old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7548496"/>
                  </a:ext>
                </a:extLst>
              </a:tr>
              <a:tr h="119459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PT008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3031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CP003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SCGR </a:t>
                      </a:r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Saraburi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Plant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961605"/>
                  </a:ext>
                </a:extLst>
              </a:tr>
              <a:tr h="119459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PT009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3041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CP003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SCGR Cholburi Plant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523436"/>
                  </a:ext>
                </a:extLst>
              </a:tr>
              <a:tr h="119459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PT010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3051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CP003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SCGR Nakornprathom Plant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7262859"/>
                  </a:ext>
                </a:extLst>
              </a:tr>
              <a:tr h="119459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PT011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3061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CP003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SCGR Lamphun Plant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1807622"/>
                  </a:ext>
                </a:extLst>
              </a:tr>
              <a:tr h="119459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PT012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3071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CP003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SCGR KhonKhan Plant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5278614"/>
                  </a:ext>
                </a:extLst>
              </a:tr>
              <a:tr h="21104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PT013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3081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CP003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SCGR Nakhon Srithammarat Plant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6685275"/>
                  </a:ext>
                </a:extLst>
              </a:tr>
              <a:tr h="119459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PT014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30A1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CP003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SCGR Saraburi 2 Plant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5801191"/>
                  </a:ext>
                </a:extLst>
              </a:tr>
              <a:tr h="119459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PT015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30C1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CP003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SCGR TCT Plant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7159212"/>
                  </a:ext>
                </a:extLst>
              </a:tr>
              <a:tr h="119459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PT016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0300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CP003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SCGR BangSue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7965280"/>
                  </a:ext>
                </a:extLst>
              </a:tr>
              <a:tr h="119459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PT017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0301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CP003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SCGR BangSue-Admin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4660972"/>
                  </a:ext>
                </a:extLst>
              </a:tr>
              <a:tr h="119459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PT018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3002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CP003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SCGR BangSue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3370486"/>
                  </a:ext>
                </a:extLst>
              </a:tr>
              <a:tr h="119459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PT019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C202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CP001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SFCG-Head Office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2043353"/>
                  </a:ext>
                </a:extLst>
              </a:tr>
              <a:tr h="119459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PT020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2121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CP005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SFCC Plant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5640590"/>
                  </a:ext>
                </a:extLst>
              </a:tr>
              <a:tr h="119459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PT021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30E1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CP003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SCGR-SB4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6349414"/>
                  </a:ext>
                </a:extLst>
              </a:tr>
              <a:tr h="119459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PT022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3241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CP006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Landscape LB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7490019"/>
                  </a:ext>
                </a:extLst>
              </a:tr>
              <a:tr h="119459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PT023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3251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CP006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Landscape NK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7642017"/>
                  </a:ext>
                </a:extLst>
              </a:tr>
              <a:tr h="119459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PT024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3261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CP006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Landscape LP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1081190"/>
                  </a:ext>
                </a:extLst>
              </a:tr>
              <a:tr h="108461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PT025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3271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CP006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Landscape KK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4454831"/>
                  </a:ext>
                </a:extLst>
              </a:tr>
              <a:tr h="119459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PT026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3281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CP006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Landscape TS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0638986"/>
                  </a:ext>
                </a:extLst>
              </a:tr>
              <a:tr h="119459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PT027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3291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CP006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Landscape SR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0130495"/>
                  </a:ext>
                </a:extLst>
              </a:tr>
              <a:tr h="119459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PT028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A311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CP007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SBR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657913"/>
                  </a:ext>
                </a:extLst>
              </a:tr>
              <a:tr h="119459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PT029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A381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CP007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SBR-SB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4180091"/>
                  </a:ext>
                </a:extLst>
              </a:tr>
              <a:tr h="119459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PT030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A302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CP007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SBR-A302</a:t>
                      </a:r>
                    </a:p>
                  </a:txBody>
                  <a:tcPr marL="3959" marR="3959" marT="3959" marB="2850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277856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BB9A5C4-2A90-466D-BAEC-9108F65AAC3B}"/>
              </a:ext>
            </a:extLst>
          </p:cNvPr>
          <p:cNvSpPr txBox="1"/>
          <p:nvPr/>
        </p:nvSpPr>
        <p:spPr>
          <a:xfrm>
            <a:off x="3611262" y="2317320"/>
            <a:ext cx="24499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Requester (Username Master Data)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3164D8-83A9-48DC-B1B5-EB9FAE85B181}"/>
              </a:ext>
            </a:extLst>
          </p:cNvPr>
          <p:cNvSpPr txBox="1"/>
          <p:nvPr/>
        </p:nvSpPr>
        <p:spPr>
          <a:xfrm>
            <a:off x="3611262" y="1952229"/>
            <a:ext cx="24499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Approver (Username Master Data)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58D0BB-E448-4526-B533-26D31CDCFBEF}"/>
              </a:ext>
            </a:extLst>
          </p:cNvPr>
          <p:cNvSpPr txBox="1"/>
          <p:nvPr/>
        </p:nvSpPr>
        <p:spPr>
          <a:xfrm>
            <a:off x="3619971" y="2616152"/>
            <a:ext cx="24499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0300 (Fix 0300)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22070E-FD2E-4FAD-9B38-F7D5F557AC01}"/>
              </a:ext>
            </a:extLst>
          </p:cNvPr>
          <p:cNvSpPr txBox="1"/>
          <p:nvPr/>
        </p:nvSpPr>
        <p:spPr>
          <a:xfrm>
            <a:off x="3611262" y="2448545"/>
            <a:ext cx="24499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TimeStamp</a:t>
            </a:r>
            <a:r>
              <a:rPr kumimoji="0" lang="th-TH" sz="11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Cordia New" panose="020B0304020202020204" pitchFamily="34" charset="-34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(MES)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AEB834-076C-4B6A-B22D-5EB33FA480CC}"/>
              </a:ext>
            </a:extLst>
          </p:cNvPr>
          <p:cNvSpPr txBox="1"/>
          <p:nvPr/>
        </p:nvSpPr>
        <p:spPr>
          <a:xfrm>
            <a:off x="3617277" y="2775840"/>
            <a:ext cx="24499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CP003 (Fix CP003)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0BC00C-1FF9-4E47-B68A-B51717FDC073}"/>
              </a:ext>
            </a:extLst>
          </p:cNvPr>
          <p:cNvSpPr txBox="1"/>
          <p:nvPr/>
        </p:nvSpPr>
        <p:spPr>
          <a:xfrm>
            <a:off x="4611296" y="3444320"/>
            <a:ext cx="24499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LotProdID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(MES)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DC2393-6442-4A7C-8A61-8BC13590800F}"/>
              </a:ext>
            </a:extLst>
          </p:cNvPr>
          <p:cNvSpPr txBox="1"/>
          <p:nvPr/>
        </p:nvSpPr>
        <p:spPr>
          <a:xfrm>
            <a:off x="3731729" y="3629246"/>
            <a:ext cx="24499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Run number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EE1A12-BBC6-4CE5-9BBD-EE9F05A27340}"/>
              </a:ext>
            </a:extLst>
          </p:cNvPr>
          <p:cNvSpPr txBox="1"/>
          <p:nvPr/>
        </p:nvSpPr>
        <p:spPr>
          <a:xfrm>
            <a:off x="3611262" y="2967608"/>
            <a:ext cx="24499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Free Text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A9F751-7173-443B-A6BE-90D7AC4E07E5}"/>
              </a:ext>
            </a:extLst>
          </p:cNvPr>
          <p:cNvSpPr txBox="1"/>
          <p:nvPr/>
        </p:nvSpPr>
        <p:spPr>
          <a:xfrm>
            <a:off x="3932034" y="4629507"/>
            <a:ext cx="24499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SB1-1:3031 / CB:3041)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7FE284-E6FE-4EBC-85D2-47070B45F789}"/>
              </a:ext>
            </a:extLst>
          </p:cNvPr>
          <p:cNvSpPr txBox="1"/>
          <p:nvPr/>
        </p:nvSpPr>
        <p:spPr>
          <a:xfrm>
            <a:off x="4181887" y="4806613"/>
            <a:ext cx="24499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SB1-1:PT008 / CB:PT009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990ACD-0D1D-4979-823B-59B6447AF126}"/>
              </a:ext>
            </a:extLst>
          </p:cNvPr>
          <p:cNvSpPr txBox="1"/>
          <p:nvPr/>
        </p:nvSpPr>
        <p:spPr>
          <a:xfrm>
            <a:off x="4086091" y="3963881"/>
            <a:ext cx="24499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1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Cordia New" panose="020B0304020202020204" pitchFamily="34" charset="-34"/>
              </a:rPr>
              <a:t>อิงตาม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Plant (Username Master Data)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BD9F7AE-AB38-41AB-80DC-50F9EC849F1A}"/>
              </a:ext>
            </a:extLst>
          </p:cNvPr>
          <p:cNvSpPr txBox="1"/>
          <p:nvPr/>
        </p:nvSpPr>
        <p:spPr>
          <a:xfrm>
            <a:off x="3920624" y="4128902"/>
            <a:ext cx="31405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1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Cordia New" panose="020B0304020202020204" pitchFamily="34" charset="-34"/>
              </a:rPr>
              <a:t>อิงตามวัตถุดิบที่เบิก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(Materials Code Master Data)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F9DFE3A-1779-4DDC-8B33-9AE8820C5FBF}"/>
              </a:ext>
            </a:extLst>
          </p:cNvPr>
          <p:cNvSpPr txBox="1"/>
          <p:nvPr/>
        </p:nvSpPr>
        <p:spPr>
          <a:xfrm>
            <a:off x="3981586" y="5118317"/>
            <a:ext cx="28459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Plan Receive (today) Date (MES)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6545EE4-F373-4CF9-A9C6-9EC009C52248}"/>
              </a:ext>
            </a:extLst>
          </p:cNvPr>
          <p:cNvSpPr txBox="1"/>
          <p:nvPr/>
        </p:nvSpPr>
        <p:spPr>
          <a:xfrm>
            <a:off x="3952532" y="5803506"/>
            <a:ext cx="24499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SB1:PT008 / CB:PT009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A6A5FF6-881B-4A61-9A26-9FA1A07C8EF4}"/>
              </a:ext>
            </a:extLst>
          </p:cNvPr>
          <p:cNvSpPr txBox="1"/>
          <p:nvPr/>
        </p:nvSpPr>
        <p:spPr>
          <a:xfrm>
            <a:off x="3341347" y="5613056"/>
            <a:ext cx="24499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Unit (Materials Code Master Data)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0EDA1D1-E1B7-4F0D-9F49-F6928C81951C}"/>
              </a:ext>
            </a:extLst>
          </p:cNvPr>
          <p:cNvSpPr txBox="1"/>
          <p:nvPr/>
        </p:nvSpPr>
        <p:spPr>
          <a:xfrm>
            <a:off x="3714477" y="3793317"/>
            <a:ext cx="24499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Fix “O” (Text O)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E2E24A6-FFDF-4EF0-8B1C-2D916CDD52FF}"/>
              </a:ext>
            </a:extLst>
          </p:cNvPr>
          <p:cNvSpPr txBox="1"/>
          <p:nvPr/>
        </p:nvSpPr>
        <p:spPr>
          <a:xfrm>
            <a:off x="3513394" y="4470050"/>
            <a:ext cx="24499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th-TH"/>
            </a:defPPr>
            <a:lvl1pPr>
              <a:defRPr sz="1100">
                <a:solidFill>
                  <a:srgbClr val="0070C0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1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Cordia New" panose="020B0304020202020204" pitchFamily="34" charset="-34"/>
              </a:rPr>
              <a:t>จำนวนเบิก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8706286-0DBD-48D9-B3C6-E6C1A96E728E}"/>
              </a:ext>
            </a:extLst>
          </p:cNvPr>
          <p:cNvSpPr txBox="1"/>
          <p:nvPr/>
        </p:nvSpPr>
        <p:spPr>
          <a:xfrm>
            <a:off x="3596863" y="4957841"/>
            <a:ext cx="24499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Fix “0” (Zero)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AFCE94A-C87F-4E15-A5FD-FD6C53F3419D}"/>
              </a:ext>
            </a:extLst>
          </p:cNvPr>
          <p:cNvSpPr txBox="1"/>
          <p:nvPr/>
        </p:nvSpPr>
        <p:spPr>
          <a:xfrm>
            <a:off x="3761747" y="5302936"/>
            <a:ext cx="24499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Blank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89E532D-79BC-40FC-8FE0-730BC782CF04}"/>
              </a:ext>
            </a:extLst>
          </p:cNvPr>
          <p:cNvSpPr txBox="1"/>
          <p:nvPr/>
        </p:nvSpPr>
        <p:spPr>
          <a:xfrm>
            <a:off x="3761747" y="5422606"/>
            <a:ext cx="24499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Blank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D2CC794-B7DA-4233-8612-1677B56C6446}"/>
              </a:ext>
            </a:extLst>
          </p:cNvPr>
          <p:cNvSpPr txBox="1"/>
          <p:nvPr/>
        </p:nvSpPr>
        <p:spPr>
          <a:xfrm>
            <a:off x="4476408" y="4302736"/>
            <a:ext cx="31405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1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Cordia New" panose="020B0304020202020204" pitchFamily="34" charset="-34"/>
              </a:rPr>
              <a:t>อิงตามวัตถุดิบที่เบิก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(Materials Code Master Data) </a:t>
            </a:r>
          </a:p>
        </p:txBody>
      </p:sp>
    </p:spTree>
    <p:extLst>
      <p:ext uri="{BB962C8B-B14F-4D97-AF65-F5344CB8AC3E}">
        <p14:creationId xmlns:p14="http://schemas.microsoft.com/office/powerpoint/2010/main" val="2934628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CBDB544-CC70-4F58-9991-A881758D76F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51913" y="806586"/>
          <a:ext cx="9745271" cy="3840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4678">
                  <a:extLst>
                    <a:ext uri="{9D8B030D-6E8A-4147-A177-3AD203B41FA5}">
                      <a16:colId xmlns:a16="http://schemas.microsoft.com/office/drawing/2014/main" val="2588499478"/>
                    </a:ext>
                  </a:extLst>
                </a:gridCol>
                <a:gridCol w="2506085">
                  <a:extLst>
                    <a:ext uri="{9D8B030D-6E8A-4147-A177-3AD203B41FA5}">
                      <a16:colId xmlns:a16="http://schemas.microsoft.com/office/drawing/2014/main" val="591106652"/>
                    </a:ext>
                  </a:extLst>
                </a:gridCol>
                <a:gridCol w="1988995">
                  <a:extLst>
                    <a:ext uri="{9D8B030D-6E8A-4147-A177-3AD203B41FA5}">
                      <a16:colId xmlns:a16="http://schemas.microsoft.com/office/drawing/2014/main" val="1043956912"/>
                    </a:ext>
                  </a:extLst>
                </a:gridCol>
                <a:gridCol w="2475513">
                  <a:extLst>
                    <a:ext uri="{9D8B030D-6E8A-4147-A177-3AD203B41FA5}">
                      <a16:colId xmlns:a16="http://schemas.microsoft.com/office/drawing/2014/main" val="12061407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GL Account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Name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SAP Mat Code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800" b="1" kern="1200" dirty="0">
                          <a:solidFill>
                            <a:schemeClr val="tx1"/>
                          </a:solidFill>
                          <a:latin typeface="SCG" panose="02000503000000020004" pitchFamily="50" charset="-34"/>
                          <a:ea typeface="+mn-ea"/>
                          <a:cs typeface="SCG" panose="02000503000000020004" pitchFamily="50" charset="-34"/>
                        </a:rPr>
                        <a:t>Unit</a:t>
                      </a:r>
                      <a:endParaRPr lang="th-TH" sz="800" b="1" kern="1200" dirty="0">
                        <a:solidFill>
                          <a:schemeClr val="tx1"/>
                        </a:solidFill>
                        <a:latin typeface="SCG" panose="02000503000000020004" pitchFamily="50" charset="-34"/>
                        <a:ea typeface="+mn-ea"/>
                        <a:cs typeface="SCG" panose="02000503000000020004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316368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703001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Portland Cement-Bulk Type 1-Elephant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30100361002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th-TH" sz="800" kern="1200" dirty="0">
                        <a:solidFill>
                          <a:schemeClr val="tx1"/>
                        </a:solidFill>
                        <a:latin typeface="SCG" panose="02000503000000020004" pitchFamily="50" charset="-34"/>
                        <a:ea typeface="+mn-ea"/>
                        <a:cs typeface="SCG" panose="02000503000000020004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8108100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703003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Limestone Mesh 16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th-TH" sz="800" kern="1200" dirty="0">
                        <a:solidFill>
                          <a:schemeClr val="tx1"/>
                        </a:solidFill>
                        <a:latin typeface="SCG" panose="02000503000000020004" pitchFamily="50" charset="-34"/>
                        <a:ea typeface="+mn-ea"/>
                        <a:cs typeface="SCG" panose="02000503000000020004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2713439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703010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Sand-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Colour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 Mixing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CG" panose="02000503000000020004" pitchFamily="50" charset="-34"/>
                        <a:ea typeface="+mn-ea"/>
                        <a:cs typeface="SCG" panose="02000503000000020004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864821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703011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Dust Stone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30100373024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800" kern="1200" dirty="0">
                        <a:solidFill>
                          <a:schemeClr val="tx1"/>
                        </a:solidFill>
                        <a:latin typeface="SCG" panose="02000503000000020004" pitchFamily="50" charset="-34"/>
                        <a:ea typeface="+mn-ea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99318516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703012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Sand Body Mixing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30100263022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CG" panose="02000503000000020004" pitchFamily="50" charset="-34"/>
                        <a:ea typeface="+mn-ea"/>
                        <a:cs typeface="SCG" panose="02000503000000020004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98929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703019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Regrind Concrete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30100373025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CG" panose="02000503000000020004" pitchFamily="50" charset="-34"/>
                        <a:ea typeface="+mn-ea"/>
                        <a:cs typeface="SCG" panose="02000503000000020004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89819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703029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Pigment Bayer-Red 4125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CG" panose="02000503000000020004" pitchFamily="50" charset="-34"/>
                        <a:ea typeface="+mn-ea"/>
                        <a:cs typeface="SCG" panose="02000503000000020004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150309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703032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Pigment Bayer-Black 318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CG" panose="02000503000000020004" pitchFamily="50" charset="-34"/>
                        <a:ea typeface="+mn-ea"/>
                        <a:cs typeface="SCG" panose="02000503000000020004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358511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703033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Pigment Bayer-Black 330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CG" panose="02000503000000020004" pitchFamily="50" charset="-34"/>
                        <a:ea typeface="+mn-ea"/>
                        <a:cs typeface="SCG" panose="02000503000000020004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636711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703036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Pigment Bayer-Brown 686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CG" panose="02000503000000020004" pitchFamily="50" charset="-34"/>
                        <a:ea typeface="+mn-ea"/>
                        <a:cs typeface="SCG" panose="02000503000000020004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690529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703038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Pigment Bayer-Green GN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CG" panose="02000503000000020004" pitchFamily="50" charset="-34"/>
                        <a:ea typeface="+mn-ea"/>
                        <a:cs typeface="SCG" panose="02000503000000020004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4404577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703039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Pigment Bayer-White R-KB-2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CG" panose="02000503000000020004" pitchFamily="50" charset="-34"/>
                        <a:ea typeface="+mn-ea"/>
                        <a:cs typeface="SCG" panose="02000503000000020004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057207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703040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Pigment Bayer-White TR-92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CG" panose="02000503000000020004" pitchFamily="50" charset="-34"/>
                        <a:ea typeface="+mn-ea"/>
                        <a:cs typeface="SCG" panose="02000503000000020004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2991493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703043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Pigment Cookson-Blue 34L84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CG" panose="02000503000000020004" pitchFamily="50" charset="-34"/>
                        <a:ea typeface="+mn-ea"/>
                        <a:cs typeface="SCG" panose="02000503000000020004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5691248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703044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Pigment Cookson-Blue 36L642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CG" panose="02000503000000020004" pitchFamily="50" charset="-34"/>
                        <a:ea typeface="+mn-ea"/>
                        <a:cs typeface="SCG" panose="02000503000000020004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565448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703046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Pigment - Blue 34L2000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CG" panose="02000503000000020004" pitchFamily="50" charset="-34"/>
                        <a:ea typeface="+mn-ea"/>
                        <a:cs typeface="SCG" panose="02000503000000020004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010573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703047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Pigment-Blue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Synox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 4810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CG" panose="02000503000000020004" pitchFamily="50" charset="-34"/>
                        <a:ea typeface="+mn-ea"/>
                        <a:cs typeface="SCG" panose="02000503000000020004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569919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1C38AA1-3237-4F18-B3FE-B2205F5E637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34307" y="5127164"/>
          <a:ext cx="10002469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03715">
                  <a:extLst>
                    <a:ext uri="{9D8B030D-6E8A-4147-A177-3AD203B41FA5}">
                      <a16:colId xmlns:a16="http://schemas.microsoft.com/office/drawing/2014/main" val="2588499478"/>
                    </a:ext>
                  </a:extLst>
                </a:gridCol>
                <a:gridCol w="1272261">
                  <a:extLst>
                    <a:ext uri="{9D8B030D-6E8A-4147-A177-3AD203B41FA5}">
                      <a16:colId xmlns:a16="http://schemas.microsoft.com/office/drawing/2014/main" val="591106652"/>
                    </a:ext>
                  </a:extLst>
                </a:gridCol>
                <a:gridCol w="1272261">
                  <a:extLst>
                    <a:ext uri="{9D8B030D-6E8A-4147-A177-3AD203B41FA5}">
                      <a16:colId xmlns:a16="http://schemas.microsoft.com/office/drawing/2014/main" val="1747084524"/>
                    </a:ext>
                  </a:extLst>
                </a:gridCol>
                <a:gridCol w="1364695">
                  <a:extLst>
                    <a:ext uri="{9D8B030D-6E8A-4147-A177-3AD203B41FA5}">
                      <a16:colId xmlns:a16="http://schemas.microsoft.com/office/drawing/2014/main" val="1969121555"/>
                    </a:ext>
                  </a:extLst>
                </a:gridCol>
                <a:gridCol w="1382892">
                  <a:extLst>
                    <a:ext uri="{9D8B030D-6E8A-4147-A177-3AD203B41FA5}">
                      <a16:colId xmlns:a16="http://schemas.microsoft.com/office/drawing/2014/main" val="2285713537"/>
                    </a:ext>
                  </a:extLst>
                </a:gridCol>
                <a:gridCol w="791523">
                  <a:extLst>
                    <a:ext uri="{9D8B030D-6E8A-4147-A177-3AD203B41FA5}">
                      <a16:colId xmlns:a16="http://schemas.microsoft.com/office/drawing/2014/main" val="380040841"/>
                    </a:ext>
                  </a:extLst>
                </a:gridCol>
                <a:gridCol w="1515122">
                  <a:extLst>
                    <a:ext uri="{9D8B030D-6E8A-4147-A177-3AD203B41FA5}">
                      <a16:colId xmlns:a16="http://schemas.microsoft.com/office/drawing/2014/main" val="42780039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Create Name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Create Username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Approve Name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Approve Username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Plant Code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err="1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Sloc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Cost Center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2068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nl-NL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Sangwan Iemjaroen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sangwani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Teerapon Chomgang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 err="1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teeracho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3041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T1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0304-53200</a:t>
                      </a:r>
                      <a:endParaRPr lang="th-TH" sz="8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22414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Surachot Thongaram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suractho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Amnuay Glingkajorn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 err="1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amnuayg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3031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T1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3163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Sopon Srinel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sopons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3031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T2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066670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8DBEF01-D335-4CD9-A57D-CF7BD769ABE5}"/>
              </a:ext>
            </a:extLst>
          </p:cNvPr>
          <p:cNvSpPr txBox="1"/>
          <p:nvPr/>
        </p:nvSpPr>
        <p:spPr>
          <a:xfrm>
            <a:off x="47221" y="4929759"/>
            <a:ext cx="58688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th-TH"/>
            </a:defPPr>
            <a:lvl1pPr indent="0">
              <a:buNone/>
              <a:defRPr sz="1000">
                <a:latin typeface="SCG" panose="02000503000000020004" pitchFamily="50" charset="-34"/>
                <a:cs typeface="SCG" panose="02000503000000020004" pitchFamily="50" charset="-34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Username Master Data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 for MES to Angel (Plant Code / Approve Username / Create Username)</a:t>
            </a:r>
            <a:endParaRPr kumimoji="0" lang="th-TH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G" panose="02000503000000020004" pitchFamily="50" charset="-34"/>
              <a:ea typeface="+mn-ea"/>
              <a:cs typeface="SCG" panose="02000503000000020004" pitchFamily="50" charset="-34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616CD5-96E2-43F5-BC20-E15CA1B4C29B}"/>
              </a:ext>
            </a:extLst>
          </p:cNvPr>
          <p:cNvSpPr txBox="1"/>
          <p:nvPr/>
        </p:nvSpPr>
        <p:spPr>
          <a:xfrm>
            <a:off x="52698" y="622478"/>
            <a:ext cx="45834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th-TH"/>
            </a:defPPr>
            <a:lvl1pPr indent="0">
              <a:buNone/>
              <a:defRPr sz="1000">
                <a:latin typeface="SCG" panose="02000503000000020004" pitchFamily="50" charset="-34"/>
                <a:cs typeface="SCG" panose="02000503000000020004" pitchFamily="50" charset="-34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Materials Code Master Data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 of Angel  (Material Number / Unit)</a:t>
            </a:r>
            <a:endParaRPr kumimoji="0" lang="th-TH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G" panose="02000503000000020004" pitchFamily="50" charset="-34"/>
              <a:ea typeface="+mn-ea"/>
              <a:cs typeface="SCG" panose="02000503000000020004" pitchFamily="50" charset="-3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85D55E-4505-44F7-8907-4A7E12D89E7A}"/>
              </a:ext>
            </a:extLst>
          </p:cNvPr>
          <p:cNvSpPr/>
          <p:nvPr/>
        </p:nvSpPr>
        <p:spPr>
          <a:xfrm>
            <a:off x="0" y="-1"/>
            <a:ext cx="12192000" cy="572519"/>
          </a:xfrm>
          <a:prstGeom prst="rect">
            <a:avLst/>
          </a:prstGeom>
          <a:solidFill>
            <a:schemeClr val="tx1"/>
          </a:solidFill>
        </p:spPr>
        <p:txBody>
          <a:bodyPr wrap="square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API for GI data (Auto</a:t>
            </a:r>
            <a:r>
              <a:rPr kumimoji="0" lang="th-TH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Pick List) </a:t>
            </a:r>
            <a:endParaRPr kumimoji="0" lang="th-TH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Cordia New" panose="020B0304020202020204" pitchFamily="34" charset="-34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E5BAB3D-8798-40A5-8ED7-42023F24AB3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0223485" y="4260501"/>
          <a:ext cx="1881430" cy="2471887"/>
        </p:xfrm>
        <a:graphic>
          <a:graphicData uri="http://schemas.openxmlformats.org/drawingml/2006/table">
            <a:tbl>
              <a:tblPr/>
              <a:tblGrid>
                <a:gridCol w="670939">
                  <a:extLst>
                    <a:ext uri="{9D8B030D-6E8A-4147-A177-3AD203B41FA5}">
                      <a16:colId xmlns:a16="http://schemas.microsoft.com/office/drawing/2014/main" val="4197395973"/>
                    </a:ext>
                  </a:extLst>
                </a:gridCol>
                <a:gridCol w="1210491">
                  <a:extLst>
                    <a:ext uri="{9D8B030D-6E8A-4147-A177-3AD203B41FA5}">
                      <a16:colId xmlns:a16="http://schemas.microsoft.com/office/drawing/2014/main" val="1850770966"/>
                    </a:ext>
                  </a:extLst>
                </a:gridCol>
              </a:tblGrid>
              <a:tr h="224717">
                <a:tc>
                  <a:txBody>
                    <a:bodyPr/>
                    <a:lstStyle/>
                    <a:p>
                      <a:r>
                        <a:rPr lang="en-US" sz="800" b="1" dirty="0">
                          <a:effectLst/>
                        </a:rPr>
                        <a:t>SLOC</a:t>
                      </a:r>
                      <a:endParaRPr lang="en-US" sz="800" dirty="0"/>
                    </a:p>
                  </a:txBody>
                  <a:tcPr marL="69808" marR="69808" marT="34904" marB="34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>
                          <a:effectLst/>
                        </a:rPr>
                        <a:t>Description</a:t>
                      </a:r>
                      <a:endParaRPr lang="en-US" sz="800"/>
                    </a:p>
                  </a:txBody>
                  <a:tcPr marL="69808" marR="69808" marT="34904" marB="34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8667937"/>
                  </a:ext>
                </a:extLst>
              </a:tr>
              <a:tr h="224717"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1</a:t>
                      </a:r>
                      <a:endParaRPr lang="en-US" sz="800"/>
                    </a:p>
                  </a:txBody>
                  <a:tcPr marL="69808" marR="69808" marT="34904" marB="34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Primary Store</a:t>
                      </a:r>
                      <a:endParaRPr lang="en-US" sz="800"/>
                    </a:p>
                  </a:txBody>
                  <a:tcPr marL="69808" marR="69808" marT="34904" marB="34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0659268"/>
                  </a:ext>
                </a:extLst>
              </a:tr>
              <a:tr h="224717">
                <a:tc>
                  <a:txBody>
                    <a:bodyPr/>
                    <a:lstStyle/>
                    <a:p>
                      <a:r>
                        <a:rPr lang="en-US" sz="800" dirty="0">
                          <a:effectLst/>
                        </a:rPr>
                        <a:t>0011</a:t>
                      </a:r>
                      <a:endParaRPr lang="en-US" sz="800" dirty="0"/>
                    </a:p>
                  </a:txBody>
                  <a:tcPr marL="69808" marR="69808" marT="34904" marB="34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effectLst/>
                        </a:rPr>
                        <a:t>CS Curing/Repack</a:t>
                      </a:r>
                      <a:endParaRPr lang="en-US" sz="800" dirty="0"/>
                    </a:p>
                  </a:txBody>
                  <a:tcPr marL="69808" marR="69808" marT="34904" marB="34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3411550"/>
                  </a:ext>
                </a:extLst>
              </a:tr>
              <a:tr h="224717"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0014</a:t>
                      </a:r>
                      <a:endParaRPr lang="en-US" sz="800"/>
                    </a:p>
                  </a:txBody>
                  <a:tcPr marL="69808" marR="69808" marT="34904" marB="34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CS Poor Quality</a:t>
                      </a:r>
                      <a:endParaRPr lang="en-US" sz="800"/>
                    </a:p>
                  </a:txBody>
                  <a:tcPr marL="69808" marR="69808" marT="34904" marB="34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8691207"/>
                  </a:ext>
                </a:extLst>
              </a:tr>
              <a:tr h="224717"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0015</a:t>
                      </a:r>
                      <a:endParaRPr lang="en-US" sz="800"/>
                    </a:p>
                  </a:txBody>
                  <a:tcPr marL="69808" marR="69808" marT="34904" marB="34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CS Wait for Scrp</a:t>
                      </a:r>
                      <a:endParaRPr lang="en-US" sz="800"/>
                    </a:p>
                  </a:txBody>
                  <a:tcPr marL="69808" marR="69808" marT="34904" marB="34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2931427"/>
                  </a:ext>
                </a:extLst>
              </a:tr>
              <a:tr h="224717"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B</a:t>
                      </a:r>
                      <a:endParaRPr lang="en-US" sz="800"/>
                    </a:p>
                  </a:txBody>
                  <a:tcPr marL="69808" marR="69808" marT="34904" marB="34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effectLst/>
                        </a:rPr>
                        <a:t>BARGE</a:t>
                      </a:r>
                      <a:endParaRPr lang="en-US" sz="800" dirty="0"/>
                    </a:p>
                  </a:txBody>
                  <a:tcPr marL="69808" marR="69808" marT="34904" marB="34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3271744"/>
                  </a:ext>
                </a:extLst>
              </a:tr>
              <a:tr h="224717"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RI</a:t>
                      </a:r>
                      <a:endParaRPr lang="en-US" sz="800"/>
                    </a:p>
                  </a:txBody>
                  <a:tcPr marL="69808" marR="69808" marT="34904" marB="34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RIDGE</a:t>
                      </a:r>
                      <a:endParaRPr lang="en-US" sz="800"/>
                    </a:p>
                  </a:txBody>
                  <a:tcPr marL="69808" marR="69808" marT="34904" marB="34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1887519"/>
                  </a:ext>
                </a:extLst>
              </a:tr>
              <a:tr h="224717"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SR</a:t>
                      </a:r>
                      <a:endParaRPr lang="en-US" sz="800"/>
                    </a:p>
                  </a:txBody>
                  <a:tcPr marL="69808" marR="69808" marT="34904" marB="34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SPECIAL RIDGE</a:t>
                      </a:r>
                      <a:endParaRPr lang="en-US" sz="800"/>
                    </a:p>
                  </a:txBody>
                  <a:tcPr marL="69808" marR="69808" marT="34904" marB="34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699052"/>
                  </a:ext>
                </a:extLst>
              </a:tr>
              <a:tr h="224717"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T1</a:t>
                      </a:r>
                      <a:endParaRPr lang="en-US" sz="800"/>
                    </a:p>
                  </a:txBody>
                  <a:tcPr marL="69808" marR="69808" marT="34904" marB="34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TILE1</a:t>
                      </a:r>
                      <a:endParaRPr lang="en-US" sz="800"/>
                    </a:p>
                  </a:txBody>
                  <a:tcPr marL="69808" marR="69808" marT="34904" marB="34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9273187"/>
                  </a:ext>
                </a:extLst>
              </a:tr>
              <a:tr h="224717"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T2</a:t>
                      </a:r>
                      <a:endParaRPr lang="en-US" sz="800"/>
                    </a:p>
                  </a:txBody>
                  <a:tcPr marL="69808" marR="69808" marT="34904" marB="34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TILE2</a:t>
                      </a:r>
                      <a:endParaRPr lang="en-US" sz="800"/>
                    </a:p>
                  </a:txBody>
                  <a:tcPr marL="69808" marR="69808" marT="34904" marB="34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5906489"/>
                  </a:ext>
                </a:extLst>
              </a:tr>
              <a:tr h="224717">
                <a:tc>
                  <a:txBody>
                    <a:bodyPr/>
                    <a:lstStyle/>
                    <a:p>
                      <a:r>
                        <a:rPr lang="en-US" sz="800" dirty="0">
                          <a:effectLst/>
                        </a:rPr>
                        <a:t>W</a:t>
                      </a:r>
                      <a:endParaRPr lang="en-US" sz="800" dirty="0"/>
                    </a:p>
                  </a:txBody>
                  <a:tcPr marL="69808" marR="69808" marT="34904" marB="34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effectLst/>
                        </a:rPr>
                        <a:t>Waste</a:t>
                      </a:r>
                      <a:endParaRPr lang="en-US" sz="800" dirty="0"/>
                    </a:p>
                  </a:txBody>
                  <a:tcPr marL="69808" marR="69808" marT="34904" marB="34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8458151"/>
                  </a:ext>
                </a:extLst>
              </a:tr>
            </a:tbl>
          </a:graphicData>
        </a:graphic>
      </p:graphicFrame>
      <p:sp>
        <p:nvSpPr>
          <p:cNvPr id="14" name="Rectangle 1">
            <a:extLst>
              <a:ext uri="{FF2B5EF4-FFF2-40B4-BE49-F238E27FC236}">
                <a16:creationId xmlns:a16="http://schemas.microsoft.com/office/drawing/2014/main" id="{F9196656-A595-43DD-8F82-81E7AA7D7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8857" y="1562876"/>
            <a:ext cx="106519" cy="1765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C7B792F-6BAC-41FC-8F5F-39F493E4B653}"/>
              </a:ext>
            </a:extLst>
          </p:cNvPr>
          <p:cNvSpPr/>
          <p:nvPr/>
        </p:nvSpPr>
        <p:spPr>
          <a:xfrm>
            <a:off x="35483" y="6096543"/>
            <a:ext cx="706215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Raw Mat Code - GL Account (Auto) </a:t>
            </a:r>
            <a:r>
              <a:rPr kumimoji="0" lang="th-TH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ในตาราง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Raw Mat Master Data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Surachote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 -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PlatCode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 -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Sloc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 -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CostCenter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  </a:t>
            </a:r>
            <a:r>
              <a:rPr kumimoji="0" lang="th-TH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ในตาราง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User</a:t>
            </a:r>
          </a:p>
        </p:txBody>
      </p:sp>
    </p:spTree>
    <p:extLst>
      <p:ext uri="{BB962C8B-B14F-4D97-AF65-F5344CB8AC3E}">
        <p14:creationId xmlns:p14="http://schemas.microsoft.com/office/powerpoint/2010/main" val="1584026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BA896-F91C-46E4-99A8-4748479B5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99A74-2FEC-4044-83D4-52E51769C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B9742A85-679F-4141-9262-DD090DFB67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9938"/>
            <a:ext cx="12192000" cy="5318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906922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136634AEDA6E24F918D02EF42EB5CBA" ma:contentTypeVersion="17" ma:contentTypeDescription="Create a new document." ma:contentTypeScope="" ma:versionID="b363dd0a132af0896f8145d8108ba36c">
  <xsd:schema xmlns:xsd="http://www.w3.org/2001/XMLSchema" xmlns:xs="http://www.w3.org/2001/XMLSchema" xmlns:p="http://schemas.microsoft.com/office/2006/metadata/properties" xmlns:ns3="e2f5dd19-4d04-4a95-bbe4-a70c24f2535f" xmlns:ns4="b6204c29-cd41-411b-a88c-840b5df235ed" targetNamespace="http://schemas.microsoft.com/office/2006/metadata/properties" ma:root="true" ma:fieldsID="925b006edfdc8bcb49df5e2256a20cff" ns3:_="" ns4:_="">
    <xsd:import namespace="e2f5dd19-4d04-4a95-bbe4-a70c24f2535f"/>
    <xsd:import namespace="b6204c29-cd41-411b-a88c-840b5df235e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f5dd19-4d04-4a95-bbe4-a70c24f2535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description="" ma:indexed="true" ma:internalName="MediaServiceLocatio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204c29-cd41-411b-a88c-840b5df235e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2f5dd19-4d04-4a95-bbe4-a70c24f2535f" xsi:nil="true"/>
  </documentManagement>
</p:properties>
</file>

<file path=customXml/itemProps1.xml><?xml version="1.0" encoding="utf-8"?>
<ds:datastoreItem xmlns:ds="http://schemas.openxmlformats.org/officeDocument/2006/customXml" ds:itemID="{ABAA3298-9604-4A4B-B84F-FE22037272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2f5dd19-4d04-4a95-bbe4-a70c24f2535f"/>
    <ds:schemaRef ds:uri="b6204c29-cd41-411b-a88c-840b5df235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8512851-DD9D-44F3-B2CB-D41DF2E8407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7EA26D7-DB98-4360-8761-A4150E588CAF}">
  <ds:schemaRefs>
    <ds:schemaRef ds:uri="http://purl.org/dc/terms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e2f5dd19-4d04-4a95-bbe4-a70c24f2535f"/>
    <ds:schemaRef ds:uri="http://purl.org/dc/elements/1.1/"/>
    <ds:schemaRef ds:uri="http://schemas.openxmlformats.org/package/2006/metadata/core-properties"/>
    <ds:schemaRef ds:uri="b6204c29-cd41-411b-a88c-840b5df235ed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1153</Words>
  <Application>Microsoft Office PowerPoint</Application>
  <PresentationFormat>Widescreen</PresentationFormat>
  <Paragraphs>389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Angsana New</vt:lpstr>
      <vt:lpstr>Arial</vt:lpstr>
      <vt:lpstr>Calibri</vt:lpstr>
      <vt:lpstr>Calibri Light</vt:lpstr>
      <vt:lpstr>Cordia New</vt:lpstr>
      <vt:lpstr>Leelawadee</vt:lpstr>
      <vt:lpstr>SCG</vt:lpstr>
      <vt:lpstr>Wingdings</vt:lpstr>
      <vt:lpstr>1_Office Theme</vt:lpstr>
      <vt:lpstr>3_Office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Manual key in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Jakgapong Chuaykerd</dc:creator>
  <cp:lastModifiedBy>Jakgapong Chuaykerd</cp:lastModifiedBy>
  <cp:revision>1</cp:revision>
  <dcterms:created xsi:type="dcterms:W3CDTF">2026-08-07T04:04:19Z</dcterms:created>
  <dcterms:modified xsi:type="dcterms:W3CDTF">2026-08-07T04:05:21Z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0x0101007136634AEDA6E24F918D02EF42EB5CBA</vt:lpwstr>
  </property>
</Properties>
</file>